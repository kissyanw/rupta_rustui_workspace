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4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Master" Target="slideMasters/slideMaster1.xml"/>
<Relationship Id="rId15" Type="http://schemas.openxmlformats.org/officeDocument/2006/relationships/theme" Target="theme/theme1.xml"/>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rcpta_arc_v3.png"/>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3" Type="http://schemas.openxmlformats.org/officeDocument/2006/relationships/image" Target="../media/template_seg.png"/><Relationship Id="rId4" Type="http://schemas.openxmlformats.org/officeDocument/2006/relationships/image" Target="../media/template_nju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pic>
        <p:nvPicPr>
          <p:cNvPr id="3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658368" y="438912"/>
            <a:ext cx="1737360" cy="557784"/>
          </a:xfrm>
          <a:prstGeom prst="rect">
            <a:avLst/>
          </a:prstGeom>
        </p:spPr>
      </p:pic>
      <p:pic>
        <p:nvPicPr>
          <p:cNvPr id="4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835640" y="438912"/>
            <a:ext cx="658368" cy="420624"/>
          </a:xfrm>
          <a:prstGeom prst="rect">
            <a:avLst/>
          </a:prstGeom>
        </p:spPr>
      </p:pic>
      <p:sp>
        <p:nvSpPr>
          <p:cNvPr id="5" name="TextBox 5"/>
          <p:cNvSpPr/>
          <p:nvPr/>
        </p:nvSpPr>
        <p:spPr>
          <a:xfrm>
            <a:off x="749808" y="1234440"/>
            <a:ext cx="10241280" cy="141732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l"/>
            <a:r>
              <a:rPr lang="zh-CN" sz="4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RCPTA 两阶段静态分析</a:t>
            </a:r>
          </a:p>
          <a:p>
            <a:pPr algn="l"/>
            <a:r>
              <a:rPr lang="zh-CN" sz="39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与 Cast Site 诊断工具</a:t>
            </a:r>
          </a:p>
        </p:txBody>
      </p:sp>
      <p:sp>
        <p:nvSpPr>
          <p:cNvPr id="6" name="TextBox 6"/>
          <p:cNvSpPr/>
          <p:nvPr/>
        </p:nvSpPr>
        <p:spPr>
          <a:xfrm>
            <a:off x="804672" y="2788920"/>
            <a:ext cx="99669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l"/>
            <a:r>
              <a:rPr lang="zh-CN" sz="2000">
                <a:latin typeface="Arial"/>
                <a:ea typeface="Arial"/>
                <a:cs typeface="Arial"/>
                <a:solidFill>
                  <a:srgbClr val="666666"/>
                </a:solidFill>
              </a:rPr>
              <a:t>面向 Rust OO-style DSL / Lite Class DSL 的类级 points-to 分析与 checked cast 风险诊断</a:t>
            </a:r>
          </a:p>
        </p:txBody>
      </p:sp>
      <p:sp>
        <p:nvSpPr>
          <p:cNvPr id="7" name="Rect 7"/>
          <p:cNvSpPr/>
          <p:nvPr/>
        </p:nvSpPr>
        <p:spPr>
          <a:xfrm>
            <a:off x="804672" y="3493008"/>
            <a:ext cx="102412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8" name="TextBox 8"/>
          <p:cNvSpPr/>
          <p:nvPr/>
        </p:nvSpPr>
        <p:spPr>
          <a:xfrm>
            <a:off x="822960" y="38404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2F5597"/>
                </a:solidFill>
              </a:rPr>
              <a:t>51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旧 DSL 全入口可分析</a:t>
            </a:r>
          </a:p>
        </p:txBody>
      </p:sp>
      <p:sp>
        <p:nvSpPr>
          <p:cNvPr id="9" name="TextBox 9"/>
          <p:cNvSpPr/>
          <p:nvPr/>
        </p:nvSpPr>
        <p:spPr>
          <a:xfrm>
            <a:off x="3108960" y="38404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69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Lite 原始套件结果</a:t>
            </a:r>
          </a:p>
        </p:txBody>
      </p:sp>
      <p:sp>
        <p:nvSpPr>
          <p:cNvPr id="10" name="TextBox 10"/>
          <p:cNvSpPr/>
          <p:nvPr/>
        </p:nvSpPr>
        <p:spPr>
          <a:xfrm>
            <a:off x="5394960" y="38404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604878"/>
                </a:solidFill>
              </a:rPr>
              <a:t>90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Cast Risk Matrix</a:t>
            </a:r>
          </a:p>
        </p:txBody>
      </p:sp>
      <p:sp>
        <p:nvSpPr>
          <p:cNvPr id="11" name="TextBox 11"/>
          <p:cNvSpPr/>
          <p:nvPr/>
        </p:nvSpPr>
        <p:spPr>
          <a:xfrm>
            <a:off x="7680960" y="38404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A61C1C"/>
                </a:solidFill>
              </a:rPr>
              <a:t>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最终 unknown</a:t>
            </a:r>
          </a:p>
        </p:txBody>
      </p:sp>
      <p:sp>
        <p:nvSpPr>
          <p:cNvPr id="12" name="TextBox 12"/>
          <p:cNvSpPr/>
          <p:nvPr/>
        </p:nvSpPr>
        <p:spPr>
          <a:xfrm>
            <a:off x="822960" y="5193792"/>
            <a:ext cx="10058400" cy="804672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l"/>
            <a:r>
              <a:rPr lang="zh-CN" sz="1800">
                <a:latin typeface="Arial"/>
                <a:ea typeface="Arial"/>
                <a:cs typeface="Arial"/>
                <a:solidFill>
                  <a:srgbClr val="222222"/>
                </a:solidFill>
              </a:rPr>
              <a:t>核心贡献：从 MIR 层复杂展开中恢复 class/interface/mixin 对象流，输出可审计的动态类型集合与 cast 安全分类。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1. 项目问题与目标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Rust 宏与泛型展开后，源码级 OO 语义在 MIR 中被打散</a:t>
            </a:r>
          </a:p>
        </p:txBody>
      </p:sp>
      <p:sp>
        <p:nvSpPr>
          <p:cNvPr id="703" name="TextBox 703"/>
          <p:cNvSpPr/>
          <p:nvPr/>
        </p:nvSpPr>
        <p:spPr>
          <a:xfrm>
            <a:off x="685800" y="1234440"/>
            <a:ext cx="105156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分析难点</a:t>
            </a:r>
          </a:p>
        </p:txBody>
      </p:sp>
      <p:sp>
        <p:nvSpPr>
          <p:cNvPr id="3" name="TextBox 3"/>
          <p:cNvSpPr/>
          <p:nvPr/>
        </p:nvSpPr>
        <p:spPr>
          <a:xfrm>
            <a:off x="704088" y="1691640"/>
            <a:ext cx="3346704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类对象流跨 clone、move、引用临时变量传播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Option / Result / 容器 API 会打断 payload 路径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interface / mixin / downcast 需要源码级类型关系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普通 MIR points-to 难以直接解释源码 cast site</a:t>
            </a:r>
          </a:p>
        </p:txBody>
      </p:sp>
      <p:sp>
        <p:nvSpPr>
          <p:cNvPr id="704" name="TextBox 704"/>
          <p:cNvSpPr/>
          <p:nvPr/>
        </p:nvSpPr>
        <p:spPr>
          <a:xfrm>
            <a:off x="4389120" y="1234440"/>
            <a:ext cx="105156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RCPTA 目标</a:t>
            </a:r>
          </a:p>
        </p:txBody>
      </p:sp>
      <p:sp>
        <p:nvSpPr>
          <p:cNvPr id="4" name="TextBox 4"/>
          <p:cNvSpPr/>
          <p:nvPr/>
        </p:nvSpPr>
        <p:spPr>
          <a:xfrm>
            <a:off x="4407407" y="1691640"/>
            <a:ext cx="3346704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构建 ClassPtr / ClassObj / ClassPAG 抽象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计算 ClassPTS 和动态类型集合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恢复 class / interface / mixin 继承关系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输出 safe / may-unsafe / must-unsafe / unknown</a:t>
            </a:r>
          </a:p>
        </p:txBody>
      </p:sp>
      <p:sp>
        <p:nvSpPr>
          <p:cNvPr id="705" name="TextBox 705"/>
          <p:cNvSpPr/>
          <p:nvPr/>
        </p:nvSpPr>
        <p:spPr>
          <a:xfrm>
            <a:off x="8092440" y="1234440"/>
            <a:ext cx="1051560" cy="310896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最终用途</a:t>
            </a:r>
          </a:p>
        </p:txBody>
      </p:sp>
      <p:sp>
        <p:nvSpPr>
          <p:cNvPr id="5" name="TextBox 5"/>
          <p:cNvSpPr/>
          <p:nvPr/>
        </p:nvSpPr>
        <p:spPr>
          <a:xfrm>
            <a:off x="8110727" y="1691640"/>
            <a:ext cx="3346704" cy="388620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解释对象可能流向哪里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解释 receiver 可能有哪些动态类型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为 cast erase 提供静态优化证据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把 unknown 暴露为建模缺口</a:t>
            </a:r>
          </a:p>
        </p:txBody>
      </p:sp>
      <p:sp>
        <p:nvSpPr>
          <p:cNvPr id="606" name="Rect 606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pic>
        <p:nvPicPr>
          <p:cNvPr id="656" name="Picture 656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2. 两阶段技术路线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第一阶段建立类级分析基线，第二阶段补齐真实 DSL 与 cast 诊断能力</a:t>
            </a:r>
          </a:p>
        </p:txBody>
      </p:sp>
      <p:sp>
        <p:nvSpPr>
          <p:cNvPr id="3" name="TextBox 3"/>
          <p:cNvSpPr/>
          <p:nvPr/>
        </p:nvSpPr>
        <p:spPr>
          <a:xfrm>
            <a:off x="777240" y="1417320"/>
            <a:ext cx="2926080" cy="1143000"/>
          </a:xfrm>
          <a:prstGeom prst="rect">
            <a:avLst/>
          </a:prstGeom>
          <a:solidFill>
            <a:srgbClr val="EAF1F8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Arial"/>
                <a:ea typeface="Arial"/>
                <a:cs typeface="Arial"/>
                <a:solidFill>
                  <a:srgbClr val="2F5597"/>
                </a:solidFill>
              </a:rPr>
              <a:t>Stage 1: 旧 DSL 基线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ClassPAG / ClassPTS / ClassCG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animal / shape / vehicle / full 套件</a:t>
            </a:r>
          </a:p>
        </p:txBody>
      </p:sp>
      <p:cxnSp>
        <p:nvCxnSpPr>
          <p:cNvPr id="4" name="Arrow 4"/>
          <p:cNvCxnSpPr/>
          <p:nvPr/>
        </p:nvCxnSpPr>
        <p:spPr>
          <a:xfrm>
            <a:off x="3703320" y="1984248"/>
            <a:ext cx="685800" cy="0"/>
          </a:xfrm>
          <a:prstGeom prst="straightConnector1">
            <a:avLst/>
          </a:prstGeom>
          <a:ln w="28575">
            <a:solidFill>
              <a:srgbClr val="2F5597"/>
            </a:solidFill>
            <a:tailEnd type="none"/>
            <a:headEnd type="triangle"/>
          </a:ln>
        </p:spPr>
      </p:cxnSp>
      <p:sp>
        <p:nvSpPr>
          <p:cNvPr id="5" name="TextBox 5"/>
          <p:cNvSpPr/>
          <p:nvPr/>
        </p:nvSpPr>
        <p:spPr>
          <a:xfrm>
            <a:off x="4434840" y="141732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Arial"/>
                <a:ea typeface="Arial"/>
                <a:cs typeface="Arial"/>
                <a:solidFill>
                  <a:srgbClr val="548235"/>
                </a:solidFill>
              </a:rPr>
              <a:t>Stage 2A: 旧 DSL 增强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proptest 入口下钻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wrapper / container / cast risk detection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7360920" y="1984248"/>
            <a:ext cx="685800" cy="0"/>
          </a:xfrm>
          <a:prstGeom prst="straightConnector1">
            <a:avLst/>
          </a:prstGeom>
          <a:ln w="28575">
            <a:solidFill>
              <a:srgbClr val="2F5597"/>
            </a:solidFill>
            <a:tailEnd type="none"/>
            <a:headEnd type="triangle"/>
          </a:ln>
        </p:spPr>
      </p:cxnSp>
      <p:sp>
        <p:nvSpPr>
          <p:cNvPr id="7" name="TextBox 7"/>
          <p:cNvSpPr/>
          <p:nvPr/>
        </p:nvSpPr>
        <p:spPr>
          <a:xfrm>
            <a:off x="8092440" y="1417320"/>
            <a:ext cx="29260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0487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Arial"/>
                <a:ea typeface="Arial"/>
                <a:cs typeface="Arial"/>
                <a:solidFill>
                  <a:srgbClr val="604878"/>
                </a:solidFill>
              </a:rPr>
              <a:t>Stage 2B: Lite DSL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适配 Lite Class DSL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构造 cast_risk_matrix</a:t>
            </a:r>
          </a:p>
        </p:txBody>
      </p:sp>
      <p:sp>
        <p:nvSpPr>
          <p:cNvPr id="708" name="TextBox 708"/>
          <p:cNvSpPr/>
          <p:nvPr/>
        </p:nvSpPr>
        <p:spPr>
          <a:xfrm>
            <a:off x="868680" y="3063240"/>
            <a:ext cx="105156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阶段一产出</a:t>
            </a:r>
          </a:p>
        </p:txBody>
      </p:sp>
      <p:sp>
        <p:nvSpPr>
          <p:cNvPr id="8" name="TextBox 8"/>
          <p:cNvSpPr/>
          <p:nvPr/>
        </p:nvSpPr>
        <p:spPr>
          <a:xfrm>
            <a:off x="886968" y="3520440"/>
            <a:ext cx="293522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44 个入口成功产出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定位 vehicle prop 栈溢出和外部依赖噪声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验证类级对象流抽象可行</a:t>
            </a:r>
          </a:p>
        </p:txBody>
      </p:sp>
      <p:sp>
        <p:nvSpPr>
          <p:cNvPr id="709" name="TextBox 709"/>
          <p:cNvSpPr/>
          <p:nvPr/>
        </p:nvSpPr>
        <p:spPr>
          <a:xfrm>
            <a:off x="4572000" y="3063240"/>
            <a:ext cx="105156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阶段二前半</a:t>
            </a:r>
          </a:p>
        </p:txBody>
      </p:sp>
      <p:sp>
        <p:nvSpPr>
          <p:cNvPr id="9" name="TextBox 9"/>
          <p:cNvSpPr/>
          <p:nvPr/>
        </p:nvSpPr>
        <p:spPr>
          <a:xfrm>
            <a:off x="4590288" y="3520440"/>
            <a:ext cx="293522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旧 DSL 51 个入口全部成功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非空 points-to 比例约 97.35%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253 个旧 DSL cast site 完成诊断</a:t>
            </a:r>
          </a:p>
        </p:txBody>
      </p:sp>
      <p:sp>
        <p:nvSpPr>
          <p:cNvPr id="710" name="TextBox 710"/>
          <p:cNvSpPr/>
          <p:nvPr/>
        </p:nvSpPr>
        <p:spPr>
          <a:xfrm>
            <a:off x="8275320" y="3063240"/>
            <a:ext cx="1051560" cy="310896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阶段二后半</a:t>
            </a:r>
          </a:p>
        </p:txBody>
      </p:sp>
      <p:sp>
        <p:nvSpPr>
          <p:cNvPr id="10" name="TextBox 10"/>
          <p:cNvSpPr/>
          <p:nvPr/>
        </p:nvSpPr>
        <p:spPr>
          <a:xfrm>
            <a:off x="8293608" y="3520440"/>
            <a:ext cx="2935224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Lite 原始套件 69 个入口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Cast Risk Matrix 90 个入口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最终 0 unknown / 0 空源诊断</a:t>
            </a:r>
          </a:p>
        </p:txBody>
      </p:sp>
      <p:sp>
        <p:nvSpPr>
          <p:cNvPr id="611" name="Rect 611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pic>
        <p:nvPicPr>
          <p:cNvPr id="661" name="Picture 661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1" name="TextBox 11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3. 当前 RCPTA 架构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简化后的两阶段架构图，突出分析主链路和第二阶段语义增强</a:t>
            </a:r>
          </a:p>
        </p:txBody>
      </p:sp>
      <p:pic>
        <p:nvPicPr>
          <p:cNvPr id="3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8428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4. 核心抽象：ClassPAG 与 ClassPTS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把 MIR 中与 DSL 类引用相关的行为提升为源码级对象流</a:t>
            </a:r>
          </a:p>
        </p:txBody>
      </p:sp>
      <p:sp>
        <p:nvSpPr>
          <p:cNvPr id="703" name="TextBox 703"/>
          <p:cNvSpPr/>
          <p:nvPr/>
        </p:nvSpPr>
        <p:spPr>
          <a:xfrm>
            <a:off x="731520" y="1143000"/>
            <a:ext cx="105156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ClassPtr</a:t>
            </a:r>
          </a:p>
        </p:txBody>
      </p:sp>
      <p:sp>
        <p:nvSpPr>
          <p:cNvPr id="3" name="TextBox 3"/>
          <p:cNvSpPr/>
          <p:nvPr/>
        </p:nvSpPr>
        <p:spPr>
          <a:xfrm>
            <a:off x="749808" y="1600200"/>
            <a:ext cx="3255264" cy="393192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局部变量、参数、返回值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字段、wrapper payload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container element slot / map value slot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cast 源、cast 结果和 canonical path</a:t>
            </a:r>
          </a:p>
        </p:txBody>
      </p:sp>
      <p:sp>
        <p:nvSpPr>
          <p:cNvPr id="704" name="TextBox 704"/>
          <p:cNvSpPr/>
          <p:nvPr/>
        </p:nvSpPr>
        <p:spPr>
          <a:xfrm>
            <a:off x="4389120" y="1143000"/>
            <a:ext cx="105156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ClassObj</a:t>
            </a:r>
          </a:p>
        </p:txBody>
      </p:sp>
      <p:sp>
        <p:nvSpPr>
          <p:cNvPr id="4" name="TextBox 4"/>
          <p:cNvSpPr/>
          <p:nvPr/>
        </p:nvSpPr>
        <p:spPr>
          <a:xfrm>
            <a:off x="4407407" y="1600200"/>
            <a:ext cx="3255264" cy="393192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基于分配点的抽象对象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记录动态 class type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对象身份与类型集合解耦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服务动态类型范围计算</a:t>
            </a:r>
          </a:p>
        </p:txBody>
      </p:sp>
      <p:sp>
        <p:nvSpPr>
          <p:cNvPr id="705" name="TextBox 705"/>
          <p:cNvSpPr/>
          <p:nvPr/>
        </p:nvSpPr>
        <p:spPr>
          <a:xfrm>
            <a:off x="8046720" y="1143000"/>
            <a:ext cx="1097280" cy="310896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ClassPAG 边</a:t>
            </a:r>
          </a:p>
        </p:txBody>
      </p:sp>
      <p:sp>
        <p:nvSpPr>
          <p:cNvPr id="5" name="TextBox 5"/>
          <p:cNvSpPr/>
          <p:nvPr/>
        </p:nvSpPr>
        <p:spPr>
          <a:xfrm>
            <a:off x="8065008" y="1600200"/>
            <a:ext cx="3255264" cy="393192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Alloc / Assign / Cast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Load / Store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CallArg / CallRet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Cast 边保留 pre-cast PTS 快照</a:t>
            </a:r>
          </a:p>
        </p:txBody>
      </p:sp>
      <p:sp>
        <p:nvSpPr>
          <p:cNvPr id="606" name="Rect 606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pic>
        <p:nvPicPr>
          <p:cNvPr id="656" name="Picture 656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5. Cast Safety 分类逻辑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用源动态类型集合与目标静态类型关系进行可解释诊断</a:t>
            </a:r>
          </a:p>
        </p:txBody>
      </p:sp>
      <p:sp>
        <p:nvSpPr>
          <p:cNvPr id="3" name="TextBox 3"/>
          <p:cNvSpPr/>
          <p:nvPr/>
        </p:nvSpPr>
        <p:spPr>
          <a:xfrm>
            <a:off x="868680" y="1234440"/>
            <a:ext cx="2331720" cy="1005840"/>
          </a:xfrm>
          <a:prstGeom prst="rect">
            <a:avLst/>
          </a:prstGeom>
          <a:solidFill>
            <a:srgbClr val="EAF1F8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Arial"/>
                <a:ea typeface="Arial"/>
                <a:cs typeface="Arial"/>
                <a:solidFill>
                  <a:srgbClr val="2F5597"/>
                </a:solidFill>
              </a:rPr>
              <a:t>Source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pre-cast source PTS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dynamic type set</a:t>
            </a:r>
          </a:p>
        </p:txBody>
      </p:sp>
      <p:cxnSp>
        <p:nvCxnSpPr>
          <p:cNvPr id="4" name="Arrow 4"/>
          <p:cNvCxnSpPr/>
          <p:nvPr/>
        </p:nvCxnSpPr>
        <p:spPr>
          <a:xfrm>
            <a:off x="3200400" y="1737360"/>
            <a:ext cx="777239" cy="0"/>
          </a:xfrm>
          <a:prstGeom prst="straightConnector1">
            <a:avLst/>
          </a:prstGeom>
          <a:ln w="28575">
            <a:solidFill>
              <a:srgbClr val="2F5597"/>
            </a:solidFill>
            <a:tailEnd type="none"/>
            <a:headEnd type="triangle"/>
          </a:ln>
        </p:spPr>
      </p:cxnSp>
      <p:sp>
        <p:nvSpPr>
          <p:cNvPr id="5" name="TextBox 5"/>
          <p:cNvSpPr/>
          <p:nvPr/>
        </p:nvSpPr>
        <p:spPr>
          <a:xfrm>
            <a:off x="4023360" y="1234440"/>
            <a:ext cx="2331720" cy="1005840"/>
          </a:xfrm>
          <a:prstGeom prst="rect">
            <a:avLst/>
          </a:prstGeom>
          <a:solidFill>
            <a:srgbClr val="EAF1F8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Arial"/>
                <a:ea typeface="Arial"/>
                <a:cs typeface="Arial"/>
                <a:solidFill>
                  <a:srgbClr val="2F5597"/>
                </a:solidFill>
              </a:rPr>
              <a:t>Target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static destination type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class / interface / mixin</a:t>
            </a:r>
          </a:p>
        </p:txBody>
      </p:sp>
      <p:cxnSp>
        <p:nvCxnSpPr>
          <p:cNvPr id="6" name="Arrow 6"/>
          <p:cNvCxnSpPr/>
          <p:nvPr/>
        </p:nvCxnSpPr>
        <p:spPr>
          <a:xfrm>
            <a:off x="6355080" y="1737360"/>
            <a:ext cx="777239" cy="0"/>
          </a:xfrm>
          <a:prstGeom prst="straightConnector1">
            <a:avLst/>
          </a:prstGeom>
          <a:ln w="28575">
            <a:solidFill>
              <a:srgbClr val="2F5597"/>
            </a:solidFill>
            <a:tailEnd type="none"/>
            <a:headEnd type="triangle"/>
          </a:ln>
        </p:spPr>
      </p:cxnSp>
      <p:sp>
        <p:nvSpPr>
          <p:cNvPr id="7" name="TextBox 7"/>
          <p:cNvSpPr/>
          <p:nvPr/>
        </p:nvSpPr>
        <p:spPr>
          <a:xfrm>
            <a:off x="7178040" y="1234440"/>
            <a:ext cx="2331720" cy="1005840"/>
          </a:xfrm>
          <a:prstGeom prst="rect">
            <a:avLst/>
          </a:prstGeom>
          <a:solidFill>
            <a:srgbClr val="EAF1F8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Arial"/>
                <a:ea typeface="Arial"/>
                <a:cs typeface="Arial"/>
                <a:solidFill>
                  <a:srgbClr val="2F5597"/>
                </a:solidFill>
              </a:rPr>
              <a:t>Relation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extends* / implements*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with* closure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9509760" y="1737360"/>
            <a:ext cx="640079" cy="0"/>
          </a:xfrm>
          <a:prstGeom prst="straightConnector1">
            <a:avLst/>
          </a:prstGeom>
          <a:ln w="28575">
            <a:solidFill>
              <a:srgbClr val="2F5597"/>
            </a:solidFill>
            <a:tailEnd type="none"/>
            <a:headEnd type="triangle"/>
          </a:ln>
        </p:spPr>
      </p:cxnSp>
      <p:sp>
        <p:nvSpPr>
          <p:cNvPr id="9" name="TextBox 9"/>
          <p:cNvSpPr/>
          <p:nvPr/>
        </p:nvSpPr>
        <p:spPr>
          <a:xfrm>
            <a:off x="10195560" y="1234440"/>
            <a:ext cx="1234440" cy="1005840"/>
          </a:xfrm>
          <a:prstGeom prst="rect">
            <a:avLst/>
          </a:prstGeom>
          <a:solidFill>
            <a:srgbClr val="EAF1F8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800" b="1">
                <a:latin typeface="Arial"/>
                <a:ea typeface="Arial"/>
                <a:cs typeface="Arial"/>
                <a:solidFill>
                  <a:srgbClr val="2F5597"/>
                </a:solidFill>
              </a:rPr>
              <a:t>Result</a:t>
            </a:r>
          </a:p>
          <a:p>
            <a:pPr algn="ctr"/>
            <a:r>
              <a:rPr lang="zh-CN" sz="1300">
                <a:latin typeface="Arial"/>
                <a:ea typeface="Arial"/>
                <a:cs typeface="Arial"/>
                <a:solidFill>
                  <a:srgbClr val="666666"/>
                </a:solidFill>
              </a:rPr>
              <a:t>classification</a:t>
            </a:r>
          </a:p>
        </p:txBody>
      </p:sp>
      <p:sp>
        <p:nvSpPr>
          <p:cNvPr id="710" name="TextBox 710"/>
          <p:cNvSpPr/>
          <p:nvPr/>
        </p:nvSpPr>
        <p:spPr>
          <a:xfrm>
            <a:off x="868680" y="2788920"/>
            <a:ext cx="105156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safe</a:t>
            </a:r>
          </a:p>
        </p:txBody>
      </p:sp>
      <p:sp>
        <p:nvSpPr>
          <p:cNvPr id="10" name="TextBox 10"/>
          <p:cNvSpPr/>
          <p:nvPr/>
        </p:nvSpPr>
        <p:spPr>
          <a:xfrm>
            <a:off x="886968" y="3246120"/>
            <a:ext cx="238658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所有源动态类型都满足目标类型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可作为 cast erase 优化候选</a:t>
            </a:r>
          </a:p>
        </p:txBody>
      </p:sp>
      <p:sp>
        <p:nvSpPr>
          <p:cNvPr id="711" name="TextBox 711"/>
          <p:cNvSpPr/>
          <p:nvPr/>
        </p:nvSpPr>
        <p:spPr>
          <a:xfrm>
            <a:off x="3611880" y="2788920"/>
            <a:ext cx="1097280" cy="310896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may-unsafe</a:t>
            </a:r>
          </a:p>
        </p:txBody>
      </p:sp>
      <p:sp>
        <p:nvSpPr>
          <p:cNvPr id="11" name="TextBox 11"/>
          <p:cNvSpPr/>
          <p:nvPr/>
        </p:nvSpPr>
        <p:spPr>
          <a:xfrm>
            <a:off x="3630168" y="3246120"/>
            <a:ext cx="238658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部分满足、部分不满足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当前需保留运行时检查</a:t>
            </a:r>
          </a:p>
        </p:txBody>
      </p:sp>
      <p:sp>
        <p:nvSpPr>
          <p:cNvPr id="712" name="TextBox 712"/>
          <p:cNvSpPr/>
          <p:nvPr/>
        </p:nvSpPr>
        <p:spPr>
          <a:xfrm>
            <a:off x="6355080" y="2788920"/>
            <a:ext cx="1207007" cy="310896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must-unsafe</a:t>
            </a:r>
          </a:p>
        </p:txBody>
      </p:sp>
      <p:sp>
        <p:nvSpPr>
          <p:cNvPr id="12" name="TextBox 12"/>
          <p:cNvSpPr/>
          <p:nvPr/>
        </p:nvSpPr>
        <p:spPr>
          <a:xfrm>
            <a:off x="6373368" y="3246120"/>
            <a:ext cx="238658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所有源动态类型都不满足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表示必然失败路径</a:t>
            </a:r>
          </a:p>
        </p:txBody>
      </p:sp>
      <p:sp>
        <p:nvSpPr>
          <p:cNvPr id="713" name="TextBox 713"/>
          <p:cNvSpPr/>
          <p:nvPr/>
        </p:nvSpPr>
        <p:spPr>
          <a:xfrm>
            <a:off x="9098280" y="2788920"/>
            <a:ext cx="1051560" cy="310896"/>
          </a:xfrm>
          <a:prstGeom prst="rect">
            <a:avLst/>
          </a:prstGeom>
          <a:solidFill>
            <a:srgbClr val="C19859"/>
          </a:solidFill>
          <a:ln w="12700">
            <a:solidFill>
              <a:srgbClr val="C19859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unknown</a:t>
            </a:r>
          </a:p>
        </p:txBody>
      </p:sp>
      <p:sp>
        <p:nvSpPr>
          <p:cNvPr id="13" name="TextBox 13"/>
          <p:cNvSpPr/>
          <p:nvPr/>
        </p:nvSpPr>
        <p:spPr>
          <a:xfrm>
            <a:off x="9116567" y="3246120"/>
            <a:ext cx="2386584" cy="150876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源 PTS 或目标类型证据不足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表示建模缺口</a:t>
            </a:r>
          </a:p>
        </p:txBody>
      </p:sp>
      <p:sp>
        <p:nvSpPr>
          <p:cNvPr id="614" name="Rect 614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pic>
        <p:nvPicPr>
          <p:cNvPr id="664" name="Picture 664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6. 第二阶段关键语义增强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高价值修改集中在 wrapper、container、入口恢复和 cast-aware 传播</a:t>
            </a:r>
          </a:p>
        </p:txBody>
      </p:sp>
      <p:sp>
        <p:nvSpPr>
          <p:cNvPr id="703" name="TextBox 703"/>
          <p:cNvSpPr/>
          <p:nvPr/>
        </p:nvSpPr>
        <p:spPr>
          <a:xfrm>
            <a:off x="685800" y="1051560"/>
            <a:ext cx="109728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Wrapper 摘要</a:t>
            </a:r>
          </a:p>
        </p:txBody>
      </p:sp>
      <p:sp>
        <p:nvSpPr>
          <p:cNvPr id="3" name="TextBox 3"/>
          <p:cNvSpPr/>
          <p:nvPr/>
        </p:nvSpPr>
        <p:spPr>
          <a:xfrm>
            <a:off x="704088" y="1508760"/>
            <a:ext cx="3346704" cy="169164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Option / Result unwrap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ok_or / map / and_then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or / or_else / unwrap_or_else fallback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as_ref 引用 wrapper payload bridge</a:t>
            </a:r>
          </a:p>
        </p:txBody>
      </p:sp>
      <p:sp>
        <p:nvSpPr>
          <p:cNvPr id="704" name="TextBox 704"/>
          <p:cNvSpPr/>
          <p:nvPr/>
        </p:nvSpPr>
        <p:spPr>
          <a:xfrm>
            <a:off x="4389120" y="1051560"/>
            <a:ext cx="150876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Container / Iterator</a:t>
            </a:r>
          </a:p>
        </p:txBody>
      </p:sp>
      <p:sp>
        <p:nvSpPr>
          <p:cNvPr id="4" name="TextBox 4"/>
          <p:cNvSpPr/>
          <p:nvPr/>
        </p:nvSpPr>
        <p:spPr>
          <a:xfrm>
            <a:off x="4407407" y="1508760"/>
            <a:ext cx="3346704" cy="169164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Vec element summary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iter / into_iter / next / find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collect result element slot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HashMap / BTreeMap value slot</a:t>
            </a:r>
          </a:p>
        </p:txBody>
      </p:sp>
      <p:sp>
        <p:nvSpPr>
          <p:cNvPr id="705" name="TextBox 705"/>
          <p:cNvSpPr/>
          <p:nvPr/>
        </p:nvSpPr>
        <p:spPr>
          <a:xfrm>
            <a:off x="8092440" y="1051560"/>
            <a:ext cx="1051560" cy="310896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入口与外部依赖</a:t>
            </a:r>
          </a:p>
        </p:txBody>
      </p:sp>
      <p:sp>
        <p:nvSpPr>
          <p:cNvPr id="5" name="TextBox 5"/>
          <p:cNvSpPr/>
          <p:nvPr/>
        </p:nvSpPr>
        <p:spPr>
          <a:xfrm>
            <a:off x="8110727" y="1508760"/>
            <a:ext cx="3346704" cy="169164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proptest wrapper drill-down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业务 closure 补种为分析根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过滤无关外部 framework callee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降低调用图和初始化噪声</a:t>
            </a:r>
          </a:p>
        </p:txBody>
      </p:sp>
      <p:sp>
        <p:nvSpPr>
          <p:cNvPr id="706" name="TextBox 706"/>
          <p:cNvSpPr/>
          <p:nvPr/>
        </p:nvSpPr>
        <p:spPr>
          <a:xfrm>
            <a:off x="685800" y="3566160"/>
            <a:ext cx="1508760" cy="310896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Cast-aware propagation</a:t>
            </a:r>
          </a:p>
        </p:txBody>
      </p:sp>
      <p:sp>
        <p:nvSpPr>
          <p:cNvPr id="6" name="TextBox 6"/>
          <p:cNvSpPr/>
          <p:nvPr/>
        </p:nvSpPr>
        <p:spPr>
          <a:xfrm>
            <a:off x="704088" y="4023360"/>
            <a:ext cx="5221224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记录 cast 前源 points-to，而不是依赖 cast 后结果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目标类型过滤传播，避免 cast 后自污染</a:t>
            </a:r>
          </a:p>
        </p:txBody>
      </p:sp>
      <p:sp>
        <p:nvSpPr>
          <p:cNvPr id="707" name="TextBox 707"/>
          <p:cNvSpPr/>
          <p:nvPr/>
        </p:nvSpPr>
        <p:spPr>
          <a:xfrm>
            <a:off x="6263640" y="3566160"/>
            <a:ext cx="1051560" cy="310896"/>
          </a:xfrm>
          <a:prstGeom prst="rect">
            <a:avLst/>
          </a:prstGeom>
          <a:solidFill>
            <a:srgbClr val="C19859"/>
          </a:solidFill>
          <a:ln w="12700">
            <a:solidFill>
              <a:srgbClr val="C19859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当前边界</a:t>
            </a:r>
          </a:p>
        </p:txBody>
      </p:sp>
      <p:sp>
        <p:nvSpPr>
          <p:cNvPr id="7" name="TextBox 7"/>
          <p:cNvSpPr/>
          <p:nvPr/>
        </p:nvSpPr>
        <p:spPr>
          <a:xfrm>
            <a:off x="6281927" y="4023360"/>
            <a:ext cx="5175504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主验证路径仍是上下文不敏感、流不敏感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字段覆盖和路径合流会保守地产生 may-unsafe</a:t>
            </a:r>
          </a:p>
        </p:txBody>
      </p:sp>
      <p:sp>
        <p:nvSpPr>
          <p:cNvPr id="608" name="Rect 608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pic>
        <p:nvPicPr>
          <p:cNvPr id="658" name="Picture 658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7. 旧 DSL 测试结果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从第一阶段部分入口失败，到第二阶段四套件全入口成功</a:t>
            </a:r>
          </a:p>
        </p:txBody>
      </p:sp>
      <p:sp>
        <p:nvSpPr>
          <p:cNvPr id="3" name="TextBox 3"/>
          <p:cNvSpPr/>
          <p:nvPr/>
        </p:nvSpPr>
        <p:spPr>
          <a:xfrm>
            <a:off x="777240" y="12344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2F5597"/>
                </a:solidFill>
              </a:rPr>
              <a:t>44 / 51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第一阶段成功入口</a:t>
            </a:r>
          </a:p>
        </p:txBody>
      </p:sp>
      <p:sp>
        <p:nvSpPr>
          <p:cNvPr id="4" name="TextBox 4"/>
          <p:cNvSpPr/>
          <p:nvPr/>
        </p:nvSpPr>
        <p:spPr>
          <a:xfrm>
            <a:off x="3154680" y="12344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51 / 51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第二阶段成功入口</a:t>
            </a:r>
          </a:p>
        </p:txBody>
      </p:sp>
      <p:sp>
        <p:nvSpPr>
          <p:cNvPr id="5" name="TextBox 5"/>
          <p:cNvSpPr/>
          <p:nvPr/>
        </p:nvSpPr>
        <p:spPr>
          <a:xfrm>
            <a:off x="5532120" y="12344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917 / 942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非空 points-to 指针</a:t>
            </a:r>
          </a:p>
        </p:txBody>
      </p:sp>
      <p:sp>
        <p:nvSpPr>
          <p:cNvPr id="6" name="TextBox 6"/>
          <p:cNvSpPr/>
          <p:nvPr/>
        </p:nvSpPr>
        <p:spPr>
          <a:xfrm>
            <a:off x="7909560" y="1234440"/>
            <a:ext cx="20116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2F5597"/>
                </a:solidFill>
              </a:rPr>
              <a:t>253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旧 DSL cast sites</a:t>
            </a:r>
          </a:p>
        </p:txBody>
      </p:sp>
      <p:sp>
        <p:nvSpPr>
          <p:cNvPr id="7" name="TextBox 7"/>
          <p:cNvSpPr/>
          <p:nvPr/>
        </p:nvSpPr>
        <p:spPr>
          <a:xfrm>
            <a:off x="10058400" y="1234440"/>
            <a:ext cx="13258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边界不确定</a:t>
            </a:r>
          </a:p>
        </p:txBody>
      </p:sp>
      <p:sp>
        <p:nvSpPr>
          <p:cNvPr id="708" name="TextBox 708"/>
          <p:cNvSpPr/>
          <p:nvPr/>
        </p:nvSpPr>
        <p:spPr>
          <a:xfrm>
            <a:off x="822960" y="2743200"/>
            <a:ext cx="105156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覆盖套件</a:t>
            </a:r>
          </a:p>
        </p:txBody>
      </p:sp>
      <p:sp>
        <p:nvSpPr>
          <p:cNvPr id="8" name="TextBox 8"/>
          <p:cNvSpPr/>
          <p:nvPr/>
        </p:nvSpPr>
        <p:spPr>
          <a:xfrm>
            <a:off x="841248" y="3200400"/>
            <a:ext cx="3255264" cy="17830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animal_hierarchy: 22 entries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shape_hierarchy: 12 entries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vehicle_hierarchy: 11 entries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rcpta_full_hierarchy: 6 entries</a:t>
            </a:r>
          </a:p>
        </p:txBody>
      </p:sp>
      <p:sp>
        <p:nvSpPr>
          <p:cNvPr id="709" name="TextBox 709"/>
          <p:cNvSpPr/>
          <p:nvPr/>
        </p:nvSpPr>
        <p:spPr>
          <a:xfrm>
            <a:off x="4434840" y="2743200"/>
            <a:ext cx="105156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主要修复效果</a:t>
            </a:r>
          </a:p>
        </p:txBody>
      </p:sp>
      <p:sp>
        <p:nvSpPr>
          <p:cNvPr id="9" name="TextBox 9"/>
          <p:cNvSpPr/>
          <p:nvPr/>
        </p:nvSpPr>
        <p:spPr>
          <a:xfrm>
            <a:off x="4453127" y="3200400"/>
            <a:ext cx="3255264" cy="17830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vehicle prop 测试入口不再栈溢出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wrapper/container 传播减少空 points-to</a:t>
            </a:r>
          </a:p>
          <a:p>
            <a:pPr algn="l">
              <a:buChar char="•"/>
            </a:pPr>
            <a:r>
              <a:rPr lang="zh-CN" sz="1500">
                <a:latin typeface="Arial"/>
                <a:ea typeface="Arial"/>
                <a:cs typeface="Arial"/>
                <a:solidFill>
                  <a:srgbClr val="222222"/>
                </a:solidFill>
              </a:rPr>
              <a:t>接口多态 receiver 类型可恢复</a:t>
            </a:r>
          </a:p>
        </p:txBody>
      </p:sp>
      <p:sp>
        <p:nvSpPr>
          <p:cNvPr id="710" name="TextBox 710"/>
          <p:cNvSpPr/>
          <p:nvPr/>
        </p:nvSpPr>
        <p:spPr>
          <a:xfrm>
            <a:off x="8046720" y="2743200"/>
            <a:ext cx="1051560" cy="310896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Cast 结果</a:t>
            </a:r>
          </a:p>
        </p:txBody>
      </p:sp>
      <p:sp>
        <p:nvSpPr>
          <p:cNvPr id="10" name="TextBox 10"/>
          <p:cNvSpPr/>
          <p:nvPr/>
        </p:nvSpPr>
        <p:spPr>
          <a:xfrm>
            <a:off x="8065008" y="3200400"/>
            <a:ext cx="3255264" cy="17830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217 safe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36 unsafe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18 must-unsafe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0 boundary unknown</a:t>
            </a:r>
          </a:p>
        </p:txBody>
      </p:sp>
      <p:sp>
        <p:nvSpPr>
          <p:cNvPr id="611" name="Rect 611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pic>
        <p:nvPicPr>
          <p:cNvPr id="661" name="Picture 661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1" name="TextBox 11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8. 新 Lite Class DSL 三套原始测试套件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这些结果来自 lite_class_dsl/analysis_results/rcpta，而不是旧 rustdsl/classes 套件</a:t>
            </a:r>
          </a:p>
        </p:txBody>
      </p:sp>
      <p:sp>
        <p:nvSpPr>
          <p:cNvPr id="3" name="TextBox 3"/>
          <p:cNvSpPr/>
          <p:nvPr/>
        </p:nvSpPr>
        <p:spPr>
          <a:xfrm>
            <a:off x="685800" y="1143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2F5597"/>
                </a:solidFill>
              </a:rPr>
              <a:t>30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Lite animal_hierarchy</a:t>
            </a:r>
          </a:p>
        </p:txBody>
      </p:sp>
      <p:sp>
        <p:nvSpPr>
          <p:cNvPr id="4" name="TextBox 4"/>
          <p:cNvSpPr/>
          <p:nvPr/>
        </p:nvSpPr>
        <p:spPr>
          <a:xfrm>
            <a:off x="2834640" y="1143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2F5597"/>
                </a:solidFill>
              </a:rPr>
              <a:t>20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Lite shape_hierarchy</a:t>
            </a:r>
          </a:p>
        </p:txBody>
      </p:sp>
      <p:sp>
        <p:nvSpPr>
          <p:cNvPr id="5" name="TextBox 5"/>
          <p:cNvSpPr/>
          <p:nvPr/>
        </p:nvSpPr>
        <p:spPr>
          <a:xfrm>
            <a:off x="4983480" y="1143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2F5597"/>
                </a:solidFill>
              </a:rPr>
              <a:t>19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Lite vehicle_hierarchy</a:t>
            </a:r>
          </a:p>
        </p:txBody>
      </p:sp>
      <p:sp>
        <p:nvSpPr>
          <p:cNvPr id="6" name="TextBox 6"/>
          <p:cNvSpPr/>
          <p:nvPr/>
        </p:nvSpPr>
        <p:spPr>
          <a:xfrm>
            <a:off x="7132320" y="1143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69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新 DSL 合计入口</a:t>
            </a:r>
          </a:p>
        </p:txBody>
      </p:sp>
      <p:sp>
        <p:nvSpPr>
          <p:cNvPr id="7" name="TextBox 7"/>
          <p:cNvSpPr/>
          <p:nvPr/>
        </p:nvSpPr>
        <p:spPr>
          <a:xfrm>
            <a:off x="9281160" y="11430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unknown</a:t>
            </a:r>
          </a:p>
        </p:txBody>
      </p:sp>
      <p:sp>
        <p:nvSpPr>
          <p:cNvPr id="708" name="TextBox 708"/>
          <p:cNvSpPr/>
          <p:nvPr/>
        </p:nvSpPr>
        <p:spPr>
          <a:xfrm>
            <a:off x="685800" y="2514600"/>
            <a:ext cx="109728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新 DSL 聚合规模</a:t>
            </a:r>
          </a:p>
        </p:txBody>
      </p:sp>
      <p:sp>
        <p:nvSpPr>
          <p:cNvPr id="8" name="TextBox 8"/>
          <p:cNvSpPr/>
          <p:nvPr/>
        </p:nvSpPr>
        <p:spPr>
          <a:xfrm>
            <a:off x="704088" y="2971800"/>
            <a:ext cx="3346704" cy="233172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ClassPtr: 6928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ClassObj / Alloc: 789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Assign edges: 1173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Cast edges: 979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Typed ptrs: 2136</a:t>
            </a:r>
          </a:p>
        </p:txBody>
      </p:sp>
      <p:sp>
        <p:nvSpPr>
          <p:cNvPr id="709" name="TextBox 709"/>
          <p:cNvSpPr/>
          <p:nvPr/>
        </p:nvSpPr>
        <p:spPr>
          <a:xfrm>
            <a:off x="4389120" y="2514600"/>
            <a:ext cx="1426464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新 DSL Cast 日志</a:t>
            </a:r>
          </a:p>
        </p:txBody>
      </p:sp>
      <p:sp>
        <p:nvSpPr>
          <p:cNvPr id="9" name="TextBox 9"/>
          <p:cNvSpPr/>
          <p:nvPr/>
        </p:nvSpPr>
        <p:spPr>
          <a:xfrm>
            <a:off x="4407407" y="2971800"/>
            <a:ext cx="3346704" cy="233172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Safe cast records: 65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Must-unsafe records: 31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No-cast entries: 44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Unknown: 0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未出现 empty points-to 源</a:t>
            </a:r>
          </a:p>
        </p:txBody>
      </p:sp>
      <p:sp>
        <p:nvSpPr>
          <p:cNvPr id="710" name="TextBox 710"/>
          <p:cNvSpPr/>
          <p:nvPr/>
        </p:nvSpPr>
        <p:spPr>
          <a:xfrm>
            <a:off x="8092440" y="2514600"/>
            <a:ext cx="1051560" cy="310896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与旧 DSL 区分</a:t>
            </a:r>
          </a:p>
        </p:txBody>
      </p:sp>
      <p:sp>
        <p:nvSpPr>
          <p:cNvPr id="10" name="TextBox 10"/>
          <p:cNvSpPr/>
          <p:nvPr/>
        </p:nvSpPr>
        <p:spPr>
          <a:xfrm>
            <a:off x="8110727" y="2971800"/>
            <a:ext cx="3346704" cy="233172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目录：lite_class_dsl/analysis_results/rcpta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主要服务 Lite DSL 本体回归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animal/shape 覆盖 downcast 成功与失败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vehicle 侧重 interface receiver 类型恢复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证明 RCPTA 可运行在新 DSL 真实测试上</a:t>
            </a:r>
          </a:p>
        </p:txBody>
      </p:sp>
      <p:sp>
        <p:nvSpPr>
          <p:cNvPr id="611" name="Rect 611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pic>
        <p:nvPicPr>
          <p:cNvPr id="661" name="Picture 661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1" name="TextBox 11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9. Cast Risk Matrix：高价值 Cast Site 数据集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专门服务 cast erase / cast risk detection 的最终验证矩阵</a:t>
            </a:r>
          </a:p>
        </p:txBody>
      </p:sp>
      <p:sp>
        <p:nvSpPr>
          <p:cNvPr id="3" name="TextBox 3"/>
          <p:cNvSpPr/>
          <p:nvPr/>
        </p:nvSpPr>
        <p:spPr>
          <a:xfrm>
            <a:off x="777240" y="1143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2F5597"/>
                </a:solidFill>
              </a:rPr>
              <a:t>90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public entries</a:t>
            </a:r>
          </a:p>
        </p:txBody>
      </p:sp>
      <p:sp>
        <p:nvSpPr>
          <p:cNvPr id="4" name="TextBox 4"/>
          <p:cNvSpPr/>
          <p:nvPr/>
        </p:nvSpPr>
        <p:spPr>
          <a:xfrm>
            <a:off x="2926080" y="1143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43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safe</a:t>
            </a:r>
          </a:p>
        </p:txBody>
      </p:sp>
      <p:sp>
        <p:nvSpPr>
          <p:cNvPr id="5" name="TextBox 5"/>
          <p:cNvSpPr/>
          <p:nvPr/>
        </p:nvSpPr>
        <p:spPr>
          <a:xfrm>
            <a:off x="5074920" y="1143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604878"/>
                </a:solidFill>
              </a:rPr>
              <a:t>40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may-unsafe</a:t>
            </a:r>
          </a:p>
        </p:txBody>
      </p:sp>
      <p:sp>
        <p:nvSpPr>
          <p:cNvPr id="6" name="TextBox 6"/>
          <p:cNvSpPr/>
          <p:nvPr/>
        </p:nvSpPr>
        <p:spPr>
          <a:xfrm>
            <a:off x="7223760" y="1143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A61C1C"/>
                </a:solidFill>
              </a:rPr>
              <a:t>7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must-unsafe</a:t>
            </a:r>
          </a:p>
        </p:txBody>
      </p:sp>
      <p:sp>
        <p:nvSpPr>
          <p:cNvPr id="7" name="TextBox 7"/>
          <p:cNvSpPr/>
          <p:nvPr/>
        </p:nvSpPr>
        <p:spPr>
          <a:xfrm>
            <a:off x="9372600" y="114300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unknown</a:t>
            </a:r>
          </a:p>
        </p:txBody>
      </p:sp>
      <p:sp>
        <p:nvSpPr>
          <p:cNvPr id="708" name="TextBox 708"/>
          <p:cNvSpPr/>
          <p:nvPr/>
        </p:nvSpPr>
        <p:spPr>
          <a:xfrm>
            <a:off x="777240" y="2606040"/>
            <a:ext cx="105156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覆盖场景</a:t>
            </a:r>
          </a:p>
        </p:txBody>
      </p:sp>
      <p:sp>
        <p:nvSpPr>
          <p:cNvPr id="8" name="TextBox 8"/>
          <p:cNvSpPr/>
          <p:nvPr/>
        </p:nvSpPr>
        <p:spPr>
          <a:xfrm>
            <a:off x="795528" y="3063240"/>
            <a:ext cx="5038344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local object / helper return / multi-level downcast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field store-load / two-holder precision / clone alias chain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Option / Result: unwrap, map, and_then, fallback, as_ref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Vec / iterator / collect, HashMap / BTreeMap value</a:t>
            </a:r>
          </a:p>
        </p:txBody>
      </p:sp>
      <p:sp>
        <p:nvSpPr>
          <p:cNvPr id="709" name="TextBox 709"/>
          <p:cNvSpPr/>
          <p:nvPr/>
        </p:nvSpPr>
        <p:spPr>
          <a:xfrm>
            <a:off x="6263640" y="2606040"/>
            <a:ext cx="105156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收尾质量</a:t>
            </a:r>
          </a:p>
        </p:txBody>
      </p:sp>
      <p:sp>
        <p:nvSpPr>
          <p:cNvPr id="9" name="TextBox 9"/>
          <p:cNvSpPr/>
          <p:nvPr/>
        </p:nvSpPr>
        <p:spPr>
          <a:xfrm>
            <a:off x="6281927" y="3063240"/>
            <a:ext cx="5038344" cy="205740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入口数与结果目录数均为 90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未检索到 boundary-unknown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未检索到 empty points-to cast source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interface / mixin 通过 wrapper/container 后仍可诊断</a:t>
            </a:r>
          </a:p>
        </p:txBody>
      </p:sp>
      <p:sp>
        <p:nvSpPr>
          <p:cNvPr id="610" name="Rect 610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pic>
        <p:nvPicPr>
          <p:cNvPr id="660" name="Picture 660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10. 典型修复案例：as_ref 引用 Wrapper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最后一轮 Lite DSL 扩充暴露并修复的代表性断流问题</a:t>
            </a:r>
          </a:p>
        </p:txBody>
      </p:sp>
      <p:sp>
        <p:nvSpPr>
          <p:cNvPr id="703" name="TextBox 703"/>
          <p:cNvSpPr/>
          <p:nvPr/>
        </p:nvSpPr>
        <p:spPr>
          <a:xfrm>
            <a:off x="777240" y="1143000"/>
            <a:ext cx="1051560" cy="310896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问题形态</a:t>
            </a:r>
          </a:p>
        </p:txBody>
      </p:sp>
      <p:sp>
        <p:nvSpPr>
          <p:cNvPr id="3" name="TextBox 3"/>
          <p:cNvSpPr/>
          <p:nvPr/>
        </p:nvSpPr>
        <p:spPr>
          <a:xfrm>
            <a:off x="795528" y="1600200"/>
            <a:ext cx="3255264" cy="3520439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Option&lt;CRc&lt;T&gt;&gt;::as_ref()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Result&lt;CRc&lt;T&gt;, E&gt;::as_ref()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返回 Option&lt;&amp;CRc&lt;T&gt;&gt; / Result&lt;&amp;CRc&lt;T&gt;, &amp;E&gt;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旧模型未连接 destination 引用 payload</a:t>
            </a:r>
          </a:p>
        </p:txBody>
      </p:sp>
      <p:sp>
        <p:nvSpPr>
          <p:cNvPr id="704" name="TextBox 704"/>
          <p:cNvSpPr/>
          <p:nvPr/>
        </p:nvSpPr>
        <p:spPr>
          <a:xfrm>
            <a:off x="4434840" y="1143000"/>
            <a:ext cx="105156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修复策略</a:t>
            </a:r>
          </a:p>
        </p:txBody>
      </p:sp>
      <p:sp>
        <p:nvSpPr>
          <p:cNvPr id="4" name="TextBox 4"/>
          <p:cNvSpPr/>
          <p:nvPr/>
        </p:nvSpPr>
        <p:spPr>
          <a:xfrm>
            <a:off x="4453127" y="1600200"/>
            <a:ext cx="3255264" cy="3520439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把 receiver payload 接到 destination payload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保留 receiver holder 已有对象流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支持 as_ref().unwrap().clone() 后进入 cast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避免 cast 源 points-to 为空</a:t>
            </a:r>
          </a:p>
        </p:txBody>
      </p:sp>
      <p:sp>
        <p:nvSpPr>
          <p:cNvPr id="705" name="TextBox 705"/>
          <p:cNvSpPr/>
          <p:nvPr/>
        </p:nvSpPr>
        <p:spPr>
          <a:xfrm>
            <a:off x="8092440" y="1143000"/>
            <a:ext cx="105156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验证结果</a:t>
            </a:r>
          </a:p>
        </p:txBody>
      </p:sp>
      <p:sp>
        <p:nvSpPr>
          <p:cNvPr id="5" name="TextBox 5"/>
          <p:cNvSpPr/>
          <p:nvPr/>
        </p:nvSpPr>
        <p:spPr>
          <a:xfrm>
            <a:off x="8110727" y="1600200"/>
            <a:ext cx="3255264" cy="3520439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Option / Result safe 场景可证明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interface wrapper may-unsafe 可解释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mixin wrapper must-unsafe 可解释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最终矩阵无 unknown</a:t>
            </a:r>
          </a:p>
        </p:txBody>
      </p:sp>
      <p:sp>
        <p:nvSpPr>
          <p:cNvPr id="606" name="Rect 606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pic>
        <p:nvPicPr>
          <p:cNvPr id="656" name="Picture 656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11. 当前成果与工程产物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已形成可审计、可回归的静态分析与诊断工具链</a:t>
            </a:r>
          </a:p>
        </p:txBody>
      </p:sp>
      <p:sp>
        <p:nvSpPr>
          <p:cNvPr id="703" name="TextBox 703"/>
          <p:cNvSpPr/>
          <p:nvPr/>
        </p:nvSpPr>
        <p:spPr>
          <a:xfrm>
            <a:off x="731520" y="1143000"/>
            <a:ext cx="105156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分析能力</a:t>
            </a:r>
          </a:p>
        </p:txBody>
      </p:sp>
      <p:sp>
        <p:nvSpPr>
          <p:cNvPr id="3" name="TextBox 3"/>
          <p:cNvSpPr/>
          <p:nvPr/>
        </p:nvSpPr>
        <p:spPr>
          <a:xfrm>
            <a:off x="749808" y="1600200"/>
            <a:ext cx="3300984" cy="36118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类级对象流恢复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字段流、函数参数/返回值传播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wrapper/container 摘要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动态类型集合推断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class/interface/mixin 类型关系解析</a:t>
            </a:r>
          </a:p>
        </p:txBody>
      </p:sp>
      <p:sp>
        <p:nvSpPr>
          <p:cNvPr id="704" name="TextBox 704"/>
          <p:cNvSpPr/>
          <p:nvPr/>
        </p:nvSpPr>
        <p:spPr>
          <a:xfrm>
            <a:off x="4389120" y="1143000"/>
            <a:ext cx="105156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输出产物</a:t>
            </a:r>
          </a:p>
        </p:txBody>
      </p:sp>
      <p:sp>
        <p:nvSpPr>
          <p:cNvPr id="4" name="TextBox 4"/>
          <p:cNvSpPr/>
          <p:nvPr/>
        </p:nvSpPr>
        <p:spPr>
          <a:xfrm>
            <a:off x="4407407" y="1600200"/>
            <a:ext cx="3300984" cy="36118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class_pag.txt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class_pts.txt / class_cg.txt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type-info.txt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inheritance_graph.txt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cast_safety.log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per-entry analysis_results</a:t>
            </a:r>
          </a:p>
        </p:txBody>
      </p:sp>
      <p:sp>
        <p:nvSpPr>
          <p:cNvPr id="705" name="TextBox 705"/>
          <p:cNvSpPr/>
          <p:nvPr/>
        </p:nvSpPr>
        <p:spPr>
          <a:xfrm>
            <a:off x="8046720" y="1143000"/>
            <a:ext cx="1051560" cy="310896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汇报结论</a:t>
            </a:r>
          </a:p>
        </p:txBody>
      </p:sp>
      <p:sp>
        <p:nvSpPr>
          <p:cNvPr id="5" name="TextBox 5"/>
          <p:cNvSpPr/>
          <p:nvPr/>
        </p:nvSpPr>
        <p:spPr>
          <a:xfrm>
            <a:off x="8065008" y="1600200"/>
            <a:ext cx="3300984" cy="36118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旧 DSL 四套件全入口可分析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Lite DSL 原始套件兼容性通过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90 个 cast risk matrix 场景完成分类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最终 unknown 和空源问题均清零</a:t>
            </a:r>
          </a:p>
        </p:txBody>
      </p:sp>
      <p:sp>
        <p:nvSpPr>
          <p:cNvPr id="606" name="Rect 606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pic>
        <p:nvPicPr>
          <p:cNvPr id="656" name="Picture 656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2" name="Rect 50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04878"/>
          </a:solidFill>
          <a:ln w="12700">
            <a:solidFill>
              <a:srgbClr val="604878"/>
            </a:solidFill>
          </a:ln>
        </p:spPr>
      </p:sp>
      <p:sp>
        <p:nvSpPr>
          <p:cNvPr id="503" name="Rect 503"/>
          <p:cNvSpPr/>
          <p:nvPr/>
        </p:nvSpPr>
        <p:spPr>
          <a:xfrm>
            <a:off x="411480" y="868680"/>
            <a:ext cx="1092708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sp>
        <p:nvSpPr>
          <p:cNvPr id="2" name="TextBox 2"/>
          <p:cNvSpPr/>
          <p:nvPr/>
        </p:nvSpPr>
        <p:spPr>
          <a:xfrm>
            <a:off x="502920" y="210312"/>
            <a:ext cx="10515600" cy="713232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/>
            <a:r>
              <a:rPr lang="zh-CN" sz="3200" b="1">
                <a:latin typeface="Arial Black"/>
                <a:ea typeface="Arial Black"/>
                <a:cs typeface="Arial Black"/>
                <a:solidFill>
                  <a:srgbClr val="111111"/>
                </a:solidFill>
              </a:rPr>
              <a:t>12. 精度审计与不精确来源</a:t>
            </a:r>
          </a:p>
          <a:p>
            <a:pPr algn="l"/>
            <a:r>
              <a:rPr lang="zh-CN" sz="1600">
                <a:latin typeface="Arial"/>
                <a:ea typeface="Arial"/>
                <a:cs typeface="Arial"/>
                <a:solidFill>
                  <a:srgbClr val="666666"/>
                </a:solidFill>
              </a:rPr>
              <a:t>结论关注当前工具诊断与真实 cast 语义之间的出入，而不是未来工作</a:t>
            </a:r>
          </a:p>
        </p:txBody>
      </p:sp>
      <p:sp>
        <p:nvSpPr>
          <p:cNvPr id="3" name="TextBox 3"/>
          <p:cNvSpPr/>
          <p:nvPr/>
        </p:nvSpPr>
        <p:spPr>
          <a:xfrm>
            <a:off x="685800" y="11430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88/90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exact 三分类正确</a:t>
            </a:r>
          </a:p>
        </p:txBody>
      </p:sp>
      <p:sp>
        <p:nvSpPr>
          <p:cNvPr id="4" name="TextBox 4"/>
          <p:cNvSpPr/>
          <p:nvPr/>
        </p:nvSpPr>
        <p:spPr>
          <a:xfrm>
            <a:off x="2743200" y="11430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97.8%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总体准确率</a:t>
            </a:r>
          </a:p>
        </p:txBody>
      </p:sp>
      <p:sp>
        <p:nvSpPr>
          <p:cNvPr id="5" name="TextBox 5"/>
          <p:cNvSpPr/>
          <p:nvPr/>
        </p:nvSpPr>
        <p:spPr>
          <a:xfrm>
            <a:off x="4800600" y="11430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A61C1C"/>
                </a:solidFill>
              </a:rPr>
              <a:t>2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unsafe 假阳性</a:t>
            </a:r>
          </a:p>
        </p:txBody>
      </p:sp>
      <p:sp>
        <p:nvSpPr>
          <p:cNvPr id="6" name="TextBox 6"/>
          <p:cNvSpPr/>
          <p:nvPr/>
        </p:nvSpPr>
        <p:spPr>
          <a:xfrm>
            <a:off x="6858000" y="11430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must-unsafe 错误</a:t>
            </a:r>
          </a:p>
        </p:txBody>
      </p:sp>
      <p:sp>
        <p:nvSpPr>
          <p:cNvPr id="7" name="TextBox 7"/>
          <p:cNvSpPr/>
          <p:nvPr/>
        </p:nvSpPr>
        <p:spPr>
          <a:xfrm>
            <a:off x="8915400" y="1143000"/>
            <a:ext cx="1874519" cy="822960"/>
          </a:xfrm>
          <a:prstGeom prst="rect">
            <a:avLst/>
          </a:prstGeom>
          <a:noFill/>
          <a:ln>
            <a:noFill/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3500" b="1">
                <a:latin typeface="Arial Black"/>
                <a:ea typeface="Arial Black"/>
                <a:cs typeface="Arial Black"/>
                <a:solidFill>
                  <a:srgbClr val="548235"/>
                </a:solidFill>
              </a:rPr>
              <a:t>0</a:t>
            </a:r>
          </a:p>
          <a:p>
            <a:pPr algn="ctr"/>
            <a:r>
              <a:rPr lang="zh-CN" sz="1400">
                <a:latin typeface="Arial"/>
                <a:ea typeface="Arial"/>
                <a:cs typeface="Arial"/>
                <a:solidFill>
                  <a:srgbClr val="666666"/>
                </a:solidFill>
              </a:rPr>
              <a:t>unknown</a:t>
            </a:r>
          </a:p>
        </p:txBody>
      </p:sp>
      <p:sp>
        <p:nvSpPr>
          <p:cNvPr id="708" name="TextBox 708"/>
          <p:cNvSpPr/>
          <p:nvPr/>
        </p:nvSpPr>
        <p:spPr>
          <a:xfrm>
            <a:off x="685800" y="2514600"/>
            <a:ext cx="1051560" cy="310896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真实语义口径</a:t>
            </a:r>
          </a:p>
        </p:txBody>
      </p:sp>
      <p:sp>
        <p:nvSpPr>
          <p:cNvPr id="8" name="TextBox 8"/>
          <p:cNvSpPr/>
          <p:nvPr/>
        </p:nvSpPr>
        <p:spPr>
          <a:xfrm>
            <a:off x="704088" y="2971800"/>
            <a:ext cx="3346704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90 个 cast matrix 场景按源码意图审计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真实 must-safe: 45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真实 may-unsafe: 38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真实 must-unsafe: 7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工具输出：43 safe / 40 may / 7 must</a:t>
            </a:r>
          </a:p>
        </p:txBody>
      </p:sp>
      <p:sp>
        <p:nvSpPr>
          <p:cNvPr id="709" name="TextBox 709"/>
          <p:cNvSpPr/>
          <p:nvPr/>
        </p:nvSpPr>
        <p:spPr>
          <a:xfrm>
            <a:off x="4389120" y="2514600"/>
            <a:ext cx="1051560" cy="310896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假阳性来源</a:t>
            </a:r>
          </a:p>
        </p:txBody>
      </p:sp>
      <p:sp>
        <p:nvSpPr>
          <p:cNvPr id="9" name="TextBox 9"/>
          <p:cNvSpPr/>
          <p:nvPr/>
        </p:nvSpPr>
        <p:spPr>
          <a:xfrm>
            <a:off x="4407407" y="2971800"/>
            <a:ext cx="3346704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false positive = 真实安全但被报 may-unsafe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two_holder 精度：两个 holder 的字段内容被合并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field overwrite：流不敏感保留旧写入 Cat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本质来自上下文/对象/流不敏感的保守合流</a:t>
            </a:r>
          </a:p>
        </p:txBody>
      </p:sp>
      <p:sp>
        <p:nvSpPr>
          <p:cNvPr id="710" name="TextBox 710"/>
          <p:cNvSpPr/>
          <p:nvPr/>
        </p:nvSpPr>
        <p:spPr>
          <a:xfrm>
            <a:off x="8092440" y="2514600"/>
            <a:ext cx="1051560" cy="310896"/>
          </a:xfrm>
          <a:prstGeom prst="rect">
            <a:avLst/>
          </a:prstGeom>
          <a:solidFill>
            <a:srgbClr val="548235"/>
          </a:solidFill>
          <a:ln w="12700">
            <a:solidFill>
              <a:srgbClr val="548235"/>
            </a:solidFill>
          </a:ln>
        </p:spPr>
        <p:txBody>
          <a:bodyPr wrap="square" anchor="mid" lIns="91440" rIns="91440" tIns="60960" bIns="60960"/>
          <a:lstStyle/>
          <a:p>
            <a:pPr algn="ctr"/>
            <a:r>
              <a:rPr lang="zh-CN" sz="1300" b="1">
                <a:latin typeface="Arial"/>
                <a:ea typeface="Arial"/>
                <a:cs typeface="Arial"/>
                <a:solidFill>
                  <a:srgbClr val="FFFFFF"/>
                </a:solidFill>
              </a:rPr>
              <a:t>诊断解释</a:t>
            </a:r>
          </a:p>
        </p:txBody>
      </p:sp>
      <p:sp>
        <p:nvSpPr>
          <p:cNvPr id="10" name="TextBox 10"/>
          <p:cNvSpPr/>
          <p:nvPr/>
        </p:nvSpPr>
        <p:spPr>
          <a:xfrm>
            <a:off x="8110727" y="2971800"/>
            <a:ext cx="3346704" cy="242316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safe 输出可视为 must-safe，当前未发现错误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must-unsafe 输出与真实必失败场景一致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may-unsafe 是保守告警，包含真实风险和假阳性</a:t>
            </a:r>
          </a:p>
          <a:p>
            <a:pPr algn="l">
              <a:buChar char="•"/>
            </a:pPr>
            <a:r>
              <a:rPr lang="zh-CN" sz="1400">
                <a:latin typeface="Arial"/>
                <a:ea typeface="Arial"/>
                <a:cs typeface="Arial"/>
                <a:solidFill>
                  <a:srgbClr val="222222"/>
                </a:solidFill>
              </a:rPr>
              <a:t>因此优化时可优先消费 safe 与 must-unsafe</a:t>
            </a:r>
          </a:p>
        </p:txBody>
      </p:sp>
      <p:sp>
        <p:nvSpPr>
          <p:cNvPr id="611" name="Rect 611"/>
          <p:cNvSpPr/>
          <p:nvPr/>
        </p:nvSpPr>
        <p:spPr>
          <a:xfrm>
            <a:off x="502920" y="6345936"/>
            <a:ext cx="10881360" cy="1"/>
          </a:xfrm>
          <a:prstGeom prst="rect">
            <a:avLst/>
          </a:prstGeom>
          <a:solidFill>
            <a:srgbClr val="D9DCE2"/>
          </a:solidFill>
          <a:ln w="12700">
            <a:solidFill>
              <a:srgbClr val="D9DCE2"/>
            </a:solidFill>
          </a:ln>
        </p:spPr>
      </p:sp>
      <p:pic>
        <p:nvPicPr>
          <p:cNvPr id="661" name="Picture 661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6400800"/>
            <a:ext cx="393192" cy="246888"/>
          </a:xfrm>
          <a:prstGeom prst="rect">
            <a:avLst/>
          </a:prstGeom>
        </p:spPr>
      </p:pic>
      <p:sp>
        <p:nvSpPr>
          <p:cNvPr id="11" name="TextBox 11"/>
          <p:cNvSpPr/>
          <p:nvPr/>
        </p:nvSpPr>
        <p:spPr>
          <a:xfrm>
            <a:off x="502920" y="6419088"/>
            <a:ext cx="10789920" cy="219456"/>
          </a:xfrm>
          <a:prstGeom prst="roundRect">
            <a:avLst/>
          </a:prstGeom>
          <a:noFill/>
          <a:ln>
            <a:noFill/>
          </a:ln>
        </p:spPr>
        <p:txBody>
          <a:bodyPr wrap="square" anchor="top" lIns="91440" rIns="91440" tIns="60960" bIns="60960"/>
          <a:lstStyle/>
          <a:p>
            <a:pPr algn="r"/>
            <a:r>
              <a:rPr lang="zh-CN" sz="900">
                <a:latin typeface="Arial"/>
                <a:ea typeface="Arial"/>
                <a:cs typeface="Arial"/>
                <a:solidFill>
                  <a:srgbClr val="666666"/>
                </a:solidFill>
              </a:rPr>
              <a:t>RCPTA 项目汇报 | Rust OO-style DSL Static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CPTA">
  <a:themeElements>
    <a:clrScheme name="RCPTA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604878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RCPTA Fonts">
      <a:majorFont>
        <a:latin typeface="Arial Black"/>
        <a:ea typeface="Arial Black"/>
        <a:cs typeface="Arial Black"/>
      </a:majorFont>
      <a:minorFont>
        <a:latin typeface="Arial"/>
        <a:ea typeface="Arial"/>
        <a:cs typeface="Arial"/>
      </a:minorFont>
    </a:fontScheme>
    <a:fmtScheme name="RCPTA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PPTX Generator</Application>
  <PresentationFormat>On-screen Show (16:9)</PresentationFormat>
  <Slides>13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RCPTA 项目汇报</dc:title>
  <dc:creator>Codex</dc:creator>
  <cp:lastModifiedBy>Codex</cp:lastModifiedBy>
  <dcterms:created xsi:type="dcterms:W3CDTF">2026-07-01T00:00:00Z</dcterms:created>
  <dcterms:modified xsi:type="dcterms:W3CDTF">2026-07-01T00:00:00Z</dcterms:modified>
</cp:coreProperties>
</file>