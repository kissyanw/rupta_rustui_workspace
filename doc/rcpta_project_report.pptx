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4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Master" Target="slideMasters/slideMaster1.xml"/>
<Relationship Id="rId15" Type="http://schemas.openxmlformats.org/officeDocument/2006/relationships/theme" Target="theme/theme1.xml"/>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rcpta_arc_v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4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RCPTA 两阶段静态分析与 Cast Site 诊断工具</a:t>
            </a:r>
          </a:p>
          <a:p>
            <a:pPr algn="ctr"/>
            <a:r>
              <a:rPr lang="zh-CN" sz="1700">
                <a:latin typeface="Noto Sans CJK SC"/>
                <a:ea typeface="Noto Sans CJK SC"/>
                <a:cs typeface="Noto Sans CJK SC"/>
                <a:solidFill>
                  <a:srgbClr val="66758A"/>
                </a:solidFill>
              </a:rPr>
              <a:t>面向 Rust OO-style DSL / Lite Class DSL 的类级 points-to 分析与 checked cast 风险诊断</a:t>
            </a:r>
          </a:p>
        </p:txBody>
      </p:sp>
      <p:sp>
        <p:nvSpPr>
          <p:cNvPr id="3" name="TextBox 3"/>
          <p:cNvSpPr/>
          <p:nvPr/>
        </p:nvSpPr>
        <p:spPr>
          <a:xfrm>
            <a:off x="914400" y="2788920"/>
            <a:ext cx="2103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0F4FA8"/>
                </a:solidFill>
              </a:rPr>
              <a:t>51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旧 DSL 全入口可分析</a:t>
            </a:r>
          </a:p>
        </p:txBody>
      </p:sp>
      <p:sp>
        <p:nvSpPr>
          <p:cNvPr id="4" name="TextBox 4"/>
          <p:cNvSpPr/>
          <p:nvPr/>
        </p:nvSpPr>
        <p:spPr>
          <a:xfrm>
            <a:off x="3337560" y="2788920"/>
            <a:ext cx="2103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0F4FA8"/>
                </a:solidFill>
              </a:rPr>
              <a:t>69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Lite 原始套件分析结果</a:t>
            </a:r>
          </a:p>
        </p:txBody>
      </p:sp>
      <p:sp>
        <p:nvSpPr>
          <p:cNvPr id="5" name="TextBox 5"/>
          <p:cNvSpPr/>
          <p:nvPr/>
        </p:nvSpPr>
        <p:spPr>
          <a:xfrm>
            <a:off x="5760720" y="2788920"/>
            <a:ext cx="2103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0F4FA8"/>
                </a:solidFill>
              </a:rPr>
              <a:t>90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Cast Risk Matrix 场景</a:t>
            </a:r>
          </a:p>
        </p:txBody>
      </p:sp>
      <p:sp>
        <p:nvSpPr>
          <p:cNvPr id="6" name="TextBox 6"/>
          <p:cNvSpPr/>
          <p:nvPr/>
        </p:nvSpPr>
        <p:spPr>
          <a:xfrm>
            <a:off x="8183879" y="2788920"/>
            <a:ext cx="21031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43A55B"/>
                </a:solidFill>
              </a:rPr>
              <a:t>0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最终 unknown 诊断</a:t>
            </a:r>
          </a:p>
        </p:txBody>
      </p:sp>
      <p:sp>
        <p:nvSpPr>
          <p:cNvPr id="7" name="TextBox 7"/>
          <p:cNvSpPr/>
          <p:nvPr/>
        </p:nvSpPr>
        <p:spPr>
          <a:xfrm>
            <a:off x="1005840" y="4251960"/>
            <a:ext cx="9966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A7E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核心贡献：从 MIR 层复杂展开中恢复 class/interface/mixin 对象流，输出可审计的动态类型集合与 cast 安全分类。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/>
          <p:nvPr/>
        </p:nvSpPr>
        <p:spPr>
          <a:xfrm>
            <a:off x="411480" y="201168"/>
            <a:ext cx="11338560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1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1. 项目问题与目标</a:t>
            </a:r>
          </a:p>
          <a:p>
            <a:pPr algn="l"/>
            <a:r>
              <a:rPr lang="zh-CN" sz="1400">
                <a:latin typeface="Noto Sans CJK SC"/>
                <a:ea typeface="Noto Sans CJK SC"/>
                <a:cs typeface="Noto Sans CJK SC"/>
                <a:solidFill>
                  <a:srgbClr val="66758A"/>
                </a:solidFill>
              </a:rPr>
              <a:t>Rust 宏与泛型展开后，源码级 OO 语义在 MIR 中被打散</a:t>
            </a:r>
          </a:p>
        </p:txBody>
      </p:sp>
      <p:sp>
        <p:nvSpPr>
          <p:cNvPr id="3" name="TextBox 3"/>
          <p:cNvSpPr/>
          <p:nvPr/>
        </p:nvSpPr>
        <p:spPr>
          <a:xfrm>
            <a:off x="685800" y="1234440"/>
            <a:ext cx="33832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分析难点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类对象流跨 clone、move、引用临时变量传播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Option / Result / 容器 API 会打断 payload 路径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interface / mixin / downcast 需要源码级类型关系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普通 MIR points-to 难以直接解释源码 cast site</a:t>
            </a:r>
          </a:p>
        </p:txBody>
      </p:sp>
      <p:sp>
        <p:nvSpPr>
          <p:cNvPr id="4" name="TextBox 4"/>
          <p:cNvSpPr/>
          <p:nvPr/>
        </p:nvSpPr>
        <p:spPr>
          <a:xfrm>
            <a:off x="4389120" y="1234440"/>
            <a:ext cx="33832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RCPTA 目标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构建 ClassPtr / ClassObj / ClassPAG 抽象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计算 ClassPTS 和动态类型集合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恢复 class / interface / mixin 继承关系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输出 safe / may-unsafe / must-unsafe / unknown</a:t>
            </a:r>
          </a:p>
        </p:txBody>
      </p:sp>
      <p:sp>
        <p:nvSpPr>
          <p:cNvPr id="5" name="TextBox 5"/>
          <p:cNvSpPr/>
          <p:nvPr/>
        </p:nvSpPr>
        <p:spPr>
          <a:xfrm>
            <a:off x="8092440" y="1234440"/>
            <a:ext cx="33832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23D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最终用途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解释对象可能流向哪里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解释 receiver 可能有哪些动态类型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为 cast erase 提供静态优化证据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把 unknown 暴露为建模缺口</a:t>
            </a:r>
          </a:p>
        </p:txBody>
      </p:sp>
      <p:sp>
        <p:nvSpPr>
          <p:cNvPr id="6" name="TextBox 6"/>
          <p:cNvSpPr/>
          <p:nvPr/>
        </p:nvSpPr>
        <p:spPr>
          <a:xfrm>
            <a:off x="411480" y="6446520"/>
            <a:ext cx="1133856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Noto Sans CJK SC"/>
                <a:ea typeface="Noto Sans CJK SC"/>
                <a:cs typeface="Noto Sans CJK SC"/>
                <a:solidFill>
                  <a:srgbClr val="8A97A8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/>
          <p:nvPr/>
        </p:nvSpPr>
        <p:spPr>
          <a:xfrm>
            <a:off x="411480" y="201168"/>
            <a:ext cx="11338560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1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2. 两阶段技术路线</a:t>
            </a:r>
          </a:p>
          <a:p>
            <a:pPr algn="l"/>
            <a:r>
              <a:rPr lang="zh-CN" sz="1400">
                <a:latin typeface="Noto Sans CJK SC"/>
                <a:ea typeface="Noto Sans CJK SC"/>
                <a:cs typeface="Noto Sans CJK SC"/>
                <a:solidFill>
                  <a:srgbClr val="66758A"/>
                </a:solidFill>
              </a:rPr>
              <a:t>第一阶段建立类级分析基线，第二阶段补齐真实 DSL 与 cast 诊断能力</a:t>
            </a:r>
          </a:p>
        </p:txBody>
      </p:sp>
      <p:sp>
        <p:nvSpPr>
          <p:cNvPr id="3" name="TextBox 3"/>
          <p:cNvSpPr/>
          <p:nvPr/>
        </p:nvSpPr>
        <p:spPr>
          <a:xfrm>
            <a:off x="777240" y="1417320"/>
            <a:ext cx="2926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 b="1">
                <a:latin typeface="Noto Sans CJK SC"/>
                <a:ea typeface="Noto Sans CJK SC"/>
                <a:cs typeface="Noto Sans CJK SC"/>
                <a:solidFill>
                  <a:srgbClr val="0F4FA8"/>
                </a:solidFill>
              </a:rPr>
              <a:t>Stage 1: 旧 DSL 基线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ClassPAG / ClassPTS / ClassCG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animal / shape / vehicle / full 套件</a:t>
            </a:r>
          </a:p>
        </p:txBody>
      </p:sp>
      <p:cxnSp>
        <p:nvCxnSpPr>
          <p:cNvPr id="4" name="Arrow 4"/>
          <p:cNvCxnSpPr/>
          <p:nvPr/>
        </p:nvCxnSpPr>
        <p:spPr>
          <a:xfrm>
            <a:off x="3703320" y="1984248"/>
            <a:ext cx="685800" cy="0"/>
          </a:xfrm>
          <a:prstGeom prst="straightConnector1">
            <a:avLst/>
          </a:prstGeom>
          <a:ln w="28575">
            <a:solidFill>
              <a:srgbClr val="0F4FA8"/>
            </a:solidFill>
            <a:tailEnd type="none"/>
            <a:headEnd type="triangle"/>
          </a:ln>
        </p:spPr>
      </p:cxnSp>
      <p:sp>
        <p:nvSpPr>
          <p:cNvPr id="5" name="TextBox 5"/>
          <p:cNvSpPr/>
          <p:nvPr/>
        </p:nvSpPr>
        <p:spPr>
          <a:xfrm>
            <a:off x="4434840" y="1417320"/>
            <a:ext cx="2926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 b="1">
                <a:latin typeface="Noto Sans CJK SC"/>
                <a:ea typeface="Noto Sans CJK SC"/>
                <a:cs typeface="Noto Sans CJK SC"/>
                <a:solidFill>
                  <a:srgbClr val="43A55B"/>
                </a:solidFill>
              </a:rPr>
              <a:t>Stage 2A: 旧 DSL 增强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proptest 入口下钻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wrapper / container / cast risk detection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7360920" y="1984248"/>
            <a:ext cx="685800" cy="0"/>
          </a:xfrm>
          <a:prstGeom prst="straightConnector1">
            <a:avLst/>
          </a:prstGeom>
          <a:ln w="28575">
            <a:solidFill>
              <a:srgbClr val="0F4FA8"/>
            </a:solidFill>
            <a:tailEnd type="none"/>
            <a:headEnd type="triangle"/>
          </a:ln>
        </p:spPr>
      </p:cxnSp>
      <p:sp>
        <p:nvSpPr>
          <p:cNvPr id="7" name="TextBox 7"/>
          <p:cNvSpPr/>
          <p:nvPr/>
        </p:nvSpPr>
        <p:spPr>
          <a:xfrm>
            <a:off x="8092440" y="1417320"/>
            <a:ext cx="2926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23D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 b="1">
                <a:latin typeface="Noto Sans CJK SC"/>
                <a:ea typeface="Noto Sans CJK SC"/>
                <a:cs typeface="Noto Sans CJK SC"/>
                <a:solidFill>
                  <a:srgbClr val="DFA23D"/>
                </a:solidFill>
              </a:rPr>
              <a:t>Stage 2B: Lite DSL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适配 Lite Class DSL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构造 cast_risk_matrix</a:t>
            </a:r>
          </a:p>
        </p:txBody>
      </p:sp>
      <p:sp>
        <p:nvSpPr>
          <p:cNvPr id="8" name="TextBox 8"/>
          <p:cNvSpPr/>
          <p:nvPr/>
        </p:nvSpPr>
        <p:spPr>
          <a:xfrm>
            <a:off x="868680" y="3063240"/>
            <a:ext cx="2971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阶段一产出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44 个入口成功产出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定位 vehicle prop 栈溢出和外部依赖噪声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验证类级对象流抽象可行</a:t>
            </a:r>
          </a:p>
        </p:txBody>
      </p:sp>
      <p:sp>
        <p:nvSpPr>
          <p:cNvPr id="9" name="TextBox 9"/>
          <p:cNvSpPr/>
          <p:nvPr/>
        </p:nvSpPr>
        <p:spPr>
          <a:xfrm>
            <a:off x="4572000" y="3063240"/>
            <a:ext cx="2971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阶段二前半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旧 DSL 51 个入口全部成功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非空 points-to 比例约 97.35%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253 个旧 DSL cast site 完成诊断</a:t>
            </a:r>
          </a:p>
        </p:txBody>
      </p:sp>
      <p:sp>
        <p:nvSpPr>
          <p:cNvPr id="10" name="TextBox 10"/>
          <p:cNvSpPr/>
          <p:nvPr/>
        </p:nvSpPr>
        <p:spPr>
          <a:xfrm>
            <a:off x="8275320" y="3063240"/>
            <a:ext cx="2971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23D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阶段二后半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Lite 原始套件 69 个入口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Cast Risk Matrix 90 个入口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最终 0 unknown / 0 空源诊断</a:t>
            </a:r>
          </a:p>
        </p:txBody>
      </p:sp>
      <p:sp>
        <p:nvSpPr>
          <p:cNvPr id="11" name="TextBox 11"/>
          <p:cNvSpPr/>
          <p:nvPr/>
        </p:nvSpPr>
        <p:spPr>
          <a:xfrm>
            <a:off x="411480" y="6446520"/>
            <a:ext cx="1133856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Noto Sans CJK SC"/>
                <a:ea typeface="Noto Sans CJK SC"/>
                <a:cs typeface="Noto Sans CJK SC"/>
                <a:solidFill>
                  <a:srgbClr val="8A97A8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/>
          <p:nvPr/>
        </p:nvSpPr>
        <p:spPr>
          <a:xfrm>
            <a:off x="411480" y="201168"/>
            <a:ext cx="11338560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1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3. 当前 RCPTA 架构</a:t>
            </a:r>
          </a:p>
          <a:p>
            <a:pPr algn="l"/>
            <a:r>
              <a:rPr lang="zh-CN" sz="1400">
                <a:latin typeface="Noto Sans CJK SC"/>
                <a:ea typeface="Noto Sans CJK SC"/>
                <a:cs typeface="Noto Sans CJK SC"/>
                <a:solidFill>
                  <a:srgbClr val="66758A"/>
                </a:solidFill>
              </a:rPr>
              <a:t>简化后的两阶段架构图，突出分析主链路和第二阶段语义增强</a:t>
            </a:r>
          </a:p>
        </p:txBody>
      </p:sp>
      <p:pic>
        <p:nvPicPr>
          <p:cNvPr id="3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842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/>
          <p:nvPr/>
        </p:nvSpPr>
        <p:spPr>
          <a:xfrm>
            <a:off x="411480" y="201168"/>
            <a:ext cx="11338560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1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4. 核心抽象：ClassPAG 与 ClassPTS</a:t>
            </a:r>
          </a:p>
          <a:p>
            <a:pPr algn="l"/>
            <a:r>
              <a:rPr lang="zh-CN" sz="1400">
                <a:latin typeface="Noto Sans CJK SC"/>
                <a:ea typeface="Noto Sans CJK SC"/>
                <a:cs typeface="Noto Sans CJK SC"/>
                <a:solidFill>
                  <a:srgbClr val="66758A"/>
                </a:solidFill>
              </a:rPr>
              <a:t>把 MIR 中与 DSL 类引用相关的行为提升为源码级对象流</a:t>
            </a:r>
          </a:p>
        </p:txBody>
      </p:sp>
      <p:sp>
        <p:nvSpPr>
          <p:cNvPr id="3" name="TextBox 3"/>
          <p:cNvSpPr/>
          <p:nvPr/>
        </p:nvSpPr>
        <p:spPr>
          <a:xfrm>
            <a:off x="731520" y="114300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ClassPtr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局部变量、参数、返回值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字段、wrapper payload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container element slot / map value slot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cast 源、cast 结果和 canonical path</a:t>
            </a:r>
          </a:p>
        </p:txBody>
      </p:sp>
      <p:sp>
        <p:nvSpPr>
          <p:cNvPr id="4" name="TextBox 4"/>
          <p:cNvSpPr/>
          <p:nvPr/>
        </p:nvSpPr>
        <p:spPr>
          <a:xfrm>
            <a:off x="4389120" y="114300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ClassObj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基于分配点的抽象对象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记录动态 class type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对象身份与类型集合解耦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服务动态类型范围计算</a:t>
            </a:r>
          </a:p>
        </p:txBody>
      </p:sp>
      <p:sp>
        <p:nvSpPr>
          <p:cNvPr id="5" name="TextBox 5"/>
          <p:cNvSpPr/>
          <p:nvPr/>
        </p:nvSpPr>
        <p:spPr>
          <a:xfrm>
            <a:off x="8046720" y="114300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23D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ClassPAG 边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Alloc / Assign / Cast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Load / Store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CallArg / CallRet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Cast 边保留 pre-cast PTS 快照</a:t>
            </a:r>
          </a:p>
        </p:txBody>
      </p:sp>
      <p:sp>
        <p:nvSpPr>
          <p:cNvPr id="6" name="TextBox 6"/>
          <p:cNvSpPr/>
          <p:nvPr/>
        </p:nvSpPr>
        <p:spPr>
          <a:xfrm>
            <a:off x="411480" y="6446520"/>
            <a:ext cx="1133856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Noto Sans CJK SC"/>
                <a:ea typeface="Noto Sans CJK SC"/>
                <a:cs typeface="Noto Sans CJK SC"/>
                <a:solidFill>
                  <a:srgbClr val="8A97A8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/>
          <p:nvPr/>
        </p:nvSpPr>
        <p:spPr>
          <a:xfrm>
            <a:off x="411480" y="201168"/>
            <a:ext cx="11338560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1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5. Cast Safety 分类逻辑</a:t>
            </a:r>
          </a:p>
          <a:p>
            <a:pPr algn="l"/>
            <a:r>
              <a:rPr lang="zh-CN" sz="1400">
                <a:latin typeface="Noto Sans CJK SC"/>
                <a:ea typeface="Noto Sans CJK SC"/>
                <a:cs typeface="Noto Sans CJK SC"/>
                <a:solidFill>
                  <a:srgbClr val="66758A"/>
                </a:solidFill>
              </a:rPr>
              <a:t>用源动态类型集合与目标静态类型关系进行可解释诊断</a:t>
            </a:r>
          </a:p>
        </p:txBody>
      </p:sp>
      <p:sp>
        <p:nvSpPr>
          <p:cNvPr id="3" name="TextBox 3"/>
          <p:cNvSpPr/>
          <p:nvPr/>
        </p:nvSpPr>
        <p:spPr>
          <a:xfrm>
            <a:off x="868680" y="1234440"/>
            <a:ext cx="2331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 b="1">
                <a:latin typeface="Noto Sans CJK SC"/>
                <a:ea typeface="Noto Sans CJK SC"/>
                <a:cs typeface="Noto Sans CJK SC"/>
                <a:solidFill>
                  <a:srgbClr val="0F4FA8"/>
                </a:solidFill>
              </a:rPr>
              <a:t>Source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pre-cast source PTS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dynamic type set</a:t>
            </a:r>
          </a:p>
        </p:txBody>
      </p:sp>
      <p:cxnSp>
        <p:nvCxnSpPr>
          <p:cNvPr id="4" name="Arrow 4"/>
          <p:cNvCxnSpPr/>
          <p:nvPr/>
        </p:nvCxnSpPr>
        <p:spPr>
          <a:xfrm>
            <a:off x="3200400" y="1737360"/>
            <a:ext cx="777239" cy="0"/>
          </a:xfrm>
          <a:prstGeom prst="straightConnector1">
            <a:avLst/>
          </a:prstGeom>
          <a:ln w="28575">
            <a:solidFill>
              <a:srgbClr val="0F4FA8"/>
            </a:solidFill>
            <a:tailEnd type="none"/>
            <a:headEnd type="triangle"/>
          </a:ln>
        </p:spPr>
      </p:cxnSp>
      <p:sp>
        <p:nvSpPr>
          <p:cNvPr id="5" name="TextBox 5"/>
          <p:cNvSpPr/>
          <p:nvPr/>
        </p:nvSpPr>
        <p:spPr>
          <a:xfrm>
            <a:off x="4023360" y="1234440"/>
            <a:ext cx="2331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 b="1">
                <a:latin typeface="Noto Sans CJK SC"/>
                <a:ea typeface="Noto Sans CJK SC"/>
                <a:cs typeface="Noto Sans CJK SC"/>
                <a:solidFill>
                  <a:srgbClr val="0F4FA8"/>
                </a:solidFill>
              </a:rPr>
              <a:t>Target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static destination type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class / interface / mixin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6355080" y="1737360"/>
            <a:ext cx="777239" cy="0"/>
          </a:xfrm>
          <a:prstGeom prst="straightConnector1">
            <a:avLst/>
          </a:prstGeom>
          <a:ln w="28575">
            <a:solidFill>
              <a:srgbClr val="0F4FA8"/>
            </a:solidFill>
            <a:tailEnd type="none"/>
            <a:headEnd type="triangle"/>
          </a:ln>
        </p:spPr>
      </p:cxnSp>
      <p:sp>
        <p:nvSpPr>
          <p:cNvPr id="7" name="TextBox 7"/>
          <p:cNvSpPr/>
          <p:nvPr/>
        </p:nvSpPr>
        <p:spPr>
          <a:xfrm>
            <a:off x="7178040" y="1234440"/>
            <a:ext cx="2331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 b="1">
                <a:latin typeface="Noto Sans CJK SC"/>
                <a:ea typeface="Noto Sans CJK SC"/>
                <a:cs typeface="Noto Sans CJK SC"/>
                <a:solidFill>
                  <a:srgbClr val="0F4FA8"/>
                </a:solidFill>
              </a:rPr>
              <a:t>Relation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extends* / implements*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with* closure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9509760" y="1737360"/>
            <a:ext cx="640079" cy="0"/>
          </a:xfrm>
          <a:prstGeom prst="straightConnector1">
            <a:avLst/>
          </a:prstGeom>
          <a:ln w="28575">
            <a:solidFill>
              <a:srgbClr val="0F4FA8"/>
            </a:solidFill>
            <a:tailEnd type="none"/>
            <a:headEnd type="triangle"/>
          </a:ln>
        </p:spPr>
      </p:cxnSp>
      <p:sp>
        <p:nvSpPr>
          <p:cNvPr id="9" name="TextBox 9"/>
          <p:cNvSpPr/>
          <p:nvPr/>
        </p:nvSpPr>
        <p:spPr>
          <a:xfrm>
            <a:off x="10195560" y="1234440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 b="1">
                <a:latin typeface="Noto Sans CJK SC"/>
                <a:ea typeface="Noto Sans CJK SC"/>
                <a:cs typeface="Noto Sans CJK SC"/>
                <a:solidFill>
                  <a:srgbClr val="0F4FA8"/>
                </a:solidFill>
              </a:rPr>
              <a:t>Result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classification</a:t>
            </a:r>
          </a:p>
        </p:txBody>
      </p:sp>
      <p:sp>
        <p:nvSpPr>
          <p:cNvPr id="10" name="TextBox 10"/>
          <p:cNvSpPr/>
          <p:nvPr/>
        </p:nvSpPr>
        <p:spPr>
          <a:xfrm>
            <a:off x="868680" y="2788920"/>
            <a:ext cx="2423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safe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所有源动态类型都满足目标类型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可作为 cast erase 优化候选</a:t>
            </a:r>
          </a:p>
        </p:txBody>
      </p:sp>
      <p:sp>
        <p:nvSpPr>
          <p:cNvPr id="11" name="TextBox 11"/>
          <p:cNvSpPr/>
          <p:nvPr/>
        </p:nvSpPr>
        <p:spPr>
          <a:xfrm>
            <a:off x="3611880" y="2788920"/>
            <a:ext cx="2423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23D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may-unsafe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部分满足、部分不满足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当前需保留运行时检查</a:t>
            </a:r>
          </a:p>
        </p:txBody>
      </p:sp>
      <p:sp>
        <p:nvSpPr>
          <p:cNvPr id="12" name="TextBox 12"/>
          <p:cNvSpPr/>
          <p:nvPr/>
        </p:nvSpPr>
        <p:spPr>
          <a:xfrm>
            <a:off x="6355080" y="2788920"/>
            <a:ext cx="2423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4B42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must-unsafe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所有源动态类型都不满足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表示必然失败路径</a:t>
            </a:r>
          </a:p>
        </p:txBody>
      </p:sp>
      <p:sp>
        <p:nvSpPr>
          <p:cNvPr id="13" name="TextBox 13"/>
          <p:cNvSpPr/>
          <p:nvPr/>
        </p:nvSpPr>
        <p:spPr>
          <a:xfrm>
            <a:off x="9098280" y="2788920"/>
            <a:ext cx="2423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9A18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unknown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源 PTS 或目标类型证据不足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表示建模缺口</a:t>
            </a:r>
          </a:p>
        </p:txBody>
      </p:sp>
      <p:sp>
        <p:nvSpPr>
          <p:cNvPr id="14" name="TextBox 14"/>
          <p:cNvSpPr/>
          <p:nvPr/>
        </p:nvSpPr>
        <p:spPr>
          <a:xfrm>
            <a:off x="411480" y="6446520"/>
            <a:ext cx="1133856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Noto Sans CJK SC"/>
                <a:ea typeface="Noto Sans CJK SC"/>
                <a:cs typeface="Noto Sans CJK SC"/>
                <a:solidFill>
                  <a:srgbClr val="8A97A8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/>
          <p:nvPr/>
        </p:nvSpPr>
        <p:spPr>
          <a:xfrm>
            <a:off x="411480" y="201168"/>
            <a:ext cx="11338560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1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6. 第二阶段关键语义增强</a:t>
            </a:r>
          </a:p>
          <a:p>
            <a:pPr algn="l"/>
            <a:r>
              <a:rPr lang="zh-CN" sz="1400">
                <a:latin typeface="Noto Sans CJK SC"/>
                <a:ea typeface="Noto Sans CJK SC"/>
                <a:cs typeface="Noto Sans CJK SC"/>
                <a:solidFill>
                  <a:srgbClr val="66758A"/>
                </a:solidFill>
              </a:rPr>
              <a:t>高价值修改集中在 wrapper、container、入口恢复和 cast-aware 传播</a:t>
            </a:r>
          </a:p>
        </p:txBody>
      </p:sp>
      <p:sp>
        <p:nvSpPr>
          <p:cNvPr id="3" name="TextBox 3"/>
          <p:cNvSpPr/>
          <p:nvPr/>
        </p:nvSpPr>
        <p:spPr>
          <a:xfrm>
            <a:off x="685800" y="1051560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Wrapper 摘要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Option / Result unwrap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ok_or / map / and_then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or / or_else / unwrap_or_else fallback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as_ref 引用 wrapper payload bridge</a:t>
            </a:r>
          </a:p>
        </p:txBody>
      </p:sp>
      <p:sp>
        <p:nvSpPr>
          <p:cNvPr id="4" name="TextBox 4"/>
          <p:cNvSpPr/>
          <p:nvPr/>
        </p:nvSpPr>
        <p:spPr>
          <a:xfrm>
            <a:off x="4389120" y="1051560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Container / Iterator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Vec element summary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iter / into_iter / next / find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collect result element slot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HashMap / BTreeMap value slot</a:t>
            </a:r>
          </a:p>
        </p:txBody>
      </p:sp>
      <p:sp>
        <p:nvSpPr>
          <p:cNvPr id="5" name="TextBox 5"/>
          <p:cNvSpPr/>
          <p:nvPr/>
        </p:nvSpPr>
        <p:spPr>
          <a:xfrm>
            <a:off x="8092440" y="1051560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23D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入口与外部依赖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proptest wrapper drill-down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业务 closure 补种为分析根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过滤无关外部 framework callee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降低调用图和初始化噪声</a:t>
            </a:r>
          </a:p>
        </p:txBody>
      </p:sp>
      <p:sp>
        <p:nvSpPr>
          <p:cNvPr id="6" name="TextBox 6"/>
          <p:cNvSpPr/>
          <p:nvPr/>
        </p:nvSpPr>
        <p:spPr>
          <a:xfrm>
            <a:off x="685800" y="3566160"/>
            <a:ext cx="5257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4B42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Cast-aware propagation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记录 cast 前源 points-to，而不是依赖 cast 后结果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目标类型过滤传播，避免 cast 后自污染</a:t>
            </a:r>
          </a:p>
        </p:txBody>
      </p:sp>
      <p:sp>
        <p:nvSpPr>
          <p:cNvPr id="7" name="TextBox 7"/>
          <p:cNvSpPr/>
          <p:nvPr/>
        </p:nvSpPr>
        <p:spPr>
          <a:xfrm>
            <a:off x="6263640" y="3566160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9A18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当前边界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主验证路径仍是上下文不敏感、流不敏感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字段覆盖和路径合流会保守地产生 may-unsafe</a:t>
            </a:r>
          </a:p>
        </p:txBody>
      </p:sp>
      <p:sp>
        <p:nvSpPr>
          <p:cNvPr id="8" name="TextBox 8"/>
          <p:cNvSpPr/>
          <p:nvPr/>
        </p:nvSpPr>
        <p:spPr>
          <a:xfrm>
            <a:off x="411480" y="6446520"/>
            <a:ext cx="1133856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Noto Sans CJK SC"/>
                <a:ea typeface="Noto Sans CJK SC"/>
                <a:cs typeface="Noto Sans CJK SC"/>
                <a:solidFill>
                  <a:srgbClr val="8A97A8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/>
          <p:nvPr/>
        </p:nvSpPr>
        <p:spPr>
          <a:xfrm>
            <a:off x="411480" y="201168"/>
            <a:ext cx="11338560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1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7. 旧 DSL 测试结果</a:t>
            </a:r>
          </a:p>
          <a:p>
            <a:pPr algn="l"/>
            <a:r>
              <a:rPr lang="zh-CN" sz="1400">
                <a:latin typeface="Noto Sans CJK SC"/>
                <a:ea typeface="Noto Sans CJK SC"/>
                <a:cs typeface="Noto Sans CJK SC"/>
                <a:solidFill>
                  <a:srgbClr val="66758A"/>
                </a:solidFill>
              </a:rPr>
              <a:t>从第一阶段部分入口失败，到第二阶段四套件全入口成功</a:t>
            </a:r>
          </a:p>
        </p:txBody>
      </p:sp>
      <p:sp>
        <p:nvSpPr>
          <p:cNvPr id="3" name="TextBox 3"/>
          <p:cNvSpPr/>
          <p:nvPr/>
        </p:nvSpPr>
        <p:spPr>
          <a:xfrm>
            <a:off x="777240" y="1234440"/>
            <a:ext cx="2011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0F4FA8"/>
                </a:solidFill>
              </a:rPr>
              <a:t>44 / 51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第一阶段成功入口</a:t>
            </a:r>
          </a:p>
        </p:txBody>
      </p:sp>
      <p:sp>
        <p:nvSpPr>
          <p:cNvPr id="4" name="TextBox 4"/>
          <p:cNvSpPr/>
          <p:nvPr/>
        </p:nvSpPr>
        <p:spPr>
          <a:xfrm>
            <a:off x="3154680" y="1234440"/>
            <a:ext cx="2011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43A55B"/>
                </a:solidFill>
              </a:rPr>
              <a:t>51 / 51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第二阶段成功入口</a:t>
            </a:r>
          </a:p>
        </p:txBody>
      </p:sp>
      <p:sp>
        <p:nvSpPr>
          <p:cNvPr id="5" name="TextBox 5"/>
          <p:cNvSpPr/>
          <p:nvPr/>
        </p:nvSpPr>
        <p:spPr>
          <a:xfrm>
            <a:off x="5532120" y="1234440"/>
            <a:ext cx="2011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43A55B"/>
                </a:solidFill>
              </a:rPr>
              <a:t>917 / 942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非空 points-to 指针</a:t>
            </a:r>
          </a:p>
        </p:txBody>
      </p:sp>
      <p:sp>
        <p:nvSpPr>
          <p:cNvPr id="6" name="TextBox 6"/>
          <p:cNvSpPr/>
          <p:nvPr/>
        </p:nvSpPr>
        <p:spPr>
          <a:xfrm>
            <a:off x="7909560" y="1234440"/>
            <a:ext cx="2011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0F4FA8"/>
                </a:solidFill>
              </a:rPr>
              <a:t>253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旧 DSL cast sites</a:t>
            </a:r>
          </a:p>
        </p:txBody>
      </p:sp>
      <p:sp>
        <p:nvSpPr>
          <p:cNvPr id="7" name="TextBox 7"/>
          <p:cNvSpPr/>
          <p:nvPr/>
        </p:nvSpPr>
        <p:spPr>
          <a:xfrm>
            <a:off x="10058400" y="1234440"/>
            <a:ext cx="1325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43A55B"/>
                </a:solidFill>
              </a:rPr>
              <a:t>0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边界不确定</a:t>
            </a:r>
          </a:p>
        </p:txBody>
      </p:sp>
      <p:sp>
        <p:nvSpPr>
          <p:cNvPr id="8" name="TextBox 8"/>
          <p:cNvSpPr/>
          <p:nvPr/>
        </p:nvSpPr>
        <p:spPr>
          <a:xfrm>
            <a:off x="822960" y="2743200"/>
            <a:ext cx="32918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覆盖套件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animal_hierarchy: 22 entries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shape_hierarchy: 12 entries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vehicle_hierarchy: 11 entries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rcpta_full_hierarchy: 6 entries</a:t>
            </a:r>
          </a:p>
        </p:txBody>
      </p:sp>
      <p:sp>
        <p:nvSpPr>
          <p:cNvPr id="9" name="TextBox 9"/>
          <p:cNvSpPr/>
          <p:nvPr/>
        </p:nvSpPr>
        <p:spPr>
          <a:xfrm>
            <a:off x="4434840" y="2743200"/>
            <a:ext cx="32918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主要修复效果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vehicle prop 测试入口不再栈溢出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wrapper/container 传播减少空 points-to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接口多态 receiver 类型可恢复</a:t>
            </a:r>
          </a:p>
        </p:txBody>
      </p:sp>
      <p:sp>
        <p:nvSpPr>
          <p:cNvPr id="10" name="TextBox 10"/>
          <p:cNvSpPr/>
          <p:nvPr/>
        </p:nvSpPr>
        <p:spPr>
          <a:xfrm>
            <a:off x="8046720" y="2743200"/>
            <a:ext cx="32918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23D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Cast 结果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217 safe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36 unsafe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18 must-unsafe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0 boundary unknown</a:t>
            </a:r>
          </a:p>
        </p:txBody>
      </p:sp>
      <p:sp>
        <p:nvSpPr>
          <p:cNvPr id="11" name="TextBox 11"/>
          <p:cNvSpPr/>
          <p:nvPr/>
        </p:nvSpPr>
        <p:spPr>
          <a:xfrm>
            <a:off x="411480" y="6446520"/>
            <a:ext cx="1133856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Noto Sans CJK SC"/>
                <a:ea typeface="Noto Sans CJK SC"/>
                <a:cs typeface="Noto Sans CJK SC"/>
                <a:solidFill>
                  <a:srgbClr val="8A97A8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/>
          <p:nvPr/>
        </p:nvSpPr>
        <p:spPr>
          <a:xfrm>
            <a:off x="411480" y="201168"/>
            <a:ext cx="11338560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1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8. Lite Class DSL 适配结果</a:t>
            </a:r>
          </a:p>
          <a:p>
            <a:pPr algn="l"/>
            <a:r>
              <a:rPr lang="zh-CN" sz="1400">
                <a:latin typeface="Noto Sans CJK SC"/>
                <a:ea typeface="Noto Sans CJK SC"/>
                <a:cs typeface="Noto Sans CJK SC"/>
                <a:solidFill>
                  <a:srgbClr val="66758A"/>
                </a:solidFill>
              </a:rPr>
              <a:t>三套原始 Lite DSL 套件主要作为 DSL 本体开发和兼容性回归证据</a:t>
            </a:r>
          </a:p>
        </p:txBody>
      </p:sp>
      <p:sp>
        <p:nvSpPr>
          <p:cNvPr id="3" name="TextBox 3"/>
          <p:cNvSpPr/>
          <p:nvPr/>
        </p:nvSpPr>
        <p:spPr>
          <a:xfrm>
            <a:off x="777240" y="114300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0F4FA8"/>
                </a:solidFill>
              </a:rPr>
              <a:t>30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animal_hierarchy</a:t>
            </a:r>
          </a:p>
        </p:txBody>
      </p:sp>
      <p:sp>
        <p:nvSpPr>
          <p:cNvPr id="4" name="TextBox 4"/>
          <p:cNvSpPr/>
          <p:nvPr/>
        </p:nvSpPr>
        <p:spPr>
          <a:xfrm>
            <a:off x="3017520" y="114300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0F4FA8"/>
                </a:solidFill>
              </a:rPr>
              <a:t>20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shape_hierarchy</a:t>
            </a:r>
          </a:p>
        </p:txBody>
      </p:sp>
      <p:sp>
        <p:nvSpPr>
          <p:cNvPr id="5" name="TextBox 5"/>
          <p:cNvSpPr/>
          <p:nvPr/>
        </p:nvSpPr>
        <p:spPr>
          <a:xfrm>
            <a:off x="5257800" y="114300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0F4FA8"/>
                </a:solidFill>
              </a:rPr>
              <a:t>19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vehicle_hierarchy</a:t>
            </a:r>
          </a:p>
        </p:txBody>
      </p:sp>
      <p:sp>
        <p:nvSpPr>
          <p:cNvPr id="6" name="TextBox 6"/>
          <p:cNvSpPr/>
          <p:nvPr/>
        </p:nvSpPr>
        <p:spPr>
          <a:xfrm>
            <a:off x="7498079" y="114300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43A55B"/>
                </a:solidFill>
              </a:rPr>
              <a:t>69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合计入口</a:t>
            </a:r>
          </a:p>
        </p:txBody>
      </p:sp>
      <p:sp>
        <p:nvSpPr>
          <p:cNvPr id="7" name="TextBox 7"/>
          <p:cNvSpPr/>
          <p:nvPr/>
        </p:nvSpPr>
        <p:spPr>
          <a:xfrm>
            <a:off x="9738360" y="1143000"/>
            <a:ext cx="1600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43A55B"/>
                </a:solidFill>
              </a:rPr>
              <a:t>0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unknown</a:t>
            </a:r>
          </a:p>
        </p:txBody>
      </p:sp>
      <p:sp>
        <p:nvSpPr>
          <p:cNvPr id="8" name="TextBox 8"/>
          <p:cNvSpPr/>
          <p:nvPr/>
        </p:nvSpPr>
        <p:spPr>
          <a:xfrm>
            <a:off x="777240" y="2606040"/>
            <a:ext cx="32461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聚合规模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ptrs: 6928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objs / alloc: 789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assign: 1173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cast edges: 979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typed ptrs: 2136</a:t>
            </a:r>
          </a:p>
        </p:txBody>
      </p:sp>
      <p:sp>
        <p:nvSpPr>
          <p:cNvPr id="9" name="TextBox 9"/>
          <p:cNvSpPr/>
          <p:nvPr/>
        </p:nvSpPr>
        <p:spPr>
          <a:xfrm>
            <a:off x="4434840" y="2606040"/>
            <a:ext cx="32461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Cast 日志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safe cast records: 65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must-unsafe records: 31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no-cast entries: 44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unknown: 0</a:t>
            </a:r>
          </a:p>
        </p:txBody>
      </p:sp>
      <p:sp>
        <p:nvSpPr>
          <p:cNvPr id="10" name="TextBox 10"/>
          <p:cNvSpPr/>
          <p:nvPr/>
        </p:nvSpPr>
        <p:spPr>
          <a:xfrm>
            <a:off x="8092440" y="2606040"/>
            <a:ext cx="32461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23D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验证意义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animal/shape 覆盖 downcast 成功与失败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vehicle 侧重 interface receiver 类型恢复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证明 RCPTA 可运行在新 DSL 真实测试上</a:t>
            </a:r>
          </a:p>
        </p:txBody>
      </p:sp>
      <p:sp>
        <p:nvSpPr>
          <p:cNvPr id="11" name="TextBox 11"/>
          <p:cNvSpPr/>
          <p:nvPr/>
        </p:nvSpPr>
        <p:spPr>
          <a:xfrm>
            <a:off x="411480" y="6446520"/>
            <a:ext cx="1133856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Noto Sans CJK SC"/>
                <a:ea typeface="Noto Sans CJK SC"/>
                <a:cs typeface="Noto Sans CJK SC"/>
                <a:solidFill>
                  <a:srgbClr val="8A97A8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/>
          <p:nvPr/>
        </p:nvSpPr>
        <p:spPr>
          <a:xfrm>
            <a:off x="411480" y="201168"/>
            <a:ext cx="11338560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1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9. Cast Risk Matrix：高价值 Cast Site 数据集</a:t>
            </a:r>
          </a:p>
          <a:p>
            <a:pPr algn="l"/>
            <a:r>
              <a:rPr lang="zh-CN" sz="1400">
                <a:latin typeface="Noto Sans CJK SC"/>
                <a:ea typeface="Noto Sans CJK SC"/>
                <a:cs typeface="Noto Sans CJK SC"/>
                <a:solidFill>
                  <a:srgbClr val="66758A"/>
                </a:solidFill>
              </a:rPr>
              <a:t>专门服务 cast erase / cast risk detection 的最终验证矩阵</a:t>
            </a:r>
          </a:p>
        </p:txBody>
      </p:sp>
      <p:sp>
        <p:nvSpPr>
          <p:cNvPr id="3" name="TextBox 3"/>
          <p:cNvSpPr/>
          <p:nvPr/>
        </p:nvSpPr>
        <p:spPr>
          <a:xfrm>
            <a:off x="777240" y="1143000"/>
            <a:ext cx="1828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0F4FA8"/>
                </a:solidFill>
              </a:rPr>
              <a:t>90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public entries</a:t>
            </a:r>
          </a:p>
        </p:txBody>
      </p:sp>
      <p:sp>
        <p:nvSpPr>
          <p:cNvPr id="4" name="TextBox 4"/>
          <p:cNvSpPr/>
          <p:nvPr/>
        </p:nvSpPr>
        <p:spPr>
          <a:xfrm>
            <a:off x="2926080" y="1143000"/>
            <a:ext cx="1828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43A55B"/>
                </a:solidFill>
              </a:rPr>
              <a:t>43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safe</a:t>
            </a:r>
          </a:p>
        </p:txBody>
      </p:sp>
      <p:sp>
        <p:nvSpPr>
          <p:cNvPr id="5" name="TextBox 5"/>
          <p:cNvSpPr/>
          <p:nvPr/>
        </p:nvSpPr>
        <p:spPr>
          <a:xfrm>
            <a:off x="5074920" y="1143000"/>
            <a:ext cx="1828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23D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DFA23D"/>
                </a:solidFill>
              </a:rPr>
              <a:t>40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may-unsafe</a:t>
            </a:r>
          </a:p>
        </p:txBody>
      </p:sp>
      <p:sp>
        <p:nvSpPr>
          <p:cNvPr id="6" name="TextBox 6"/>
          <p:cNvSpPr/>
          <p:nvPr/>
        </p:nvSpPr>
        <p:spPr>
          <a:xfrm>
            <a:off x="7223760" y="1143000"/>
            <a:ext cx="1828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4B42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D94B42"/>
                </a:solidFill>
              </a:rPr>
              <a:t>7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must-unsafe</a:t>
            </a:r>
          </a:p>
        </p:txBody>
      </p:sp>
      <p:sp>
        <p:nvSpPr>
          <p:cNvPr id="7" name="TextBox 7"/>
          <p:cNvSpPr/>
          <p:nvPr/>
        </p:nvSpPr>
        <p:spPr>
          <a:xfrm>
            <a:off x="9372600" y="1143000"/>
            <a:ext cx="1828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2600" b="1">
                <a:latin typeface="Noto Sans CJK SC"/>
                <a:ea typeface="Noto Sans CJK SC"/>
                <a:cs typeface="Noto Sans CJK SC"/>
                <a:solidFill>
                  <a:srgbClr val="43A55B"/>
                </a:solidFill>
              </a:rPr>
              <a:t>0</a:t>
            </a:r>
          </a:p>
          <a:p>
            <a:pPr algn="ctr"/>
            <a:r>
              <a:rPr lang="zh-CN" sz="12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unknown</a:t>
            </a:r>
          </a:p>
        </p:txBody>
      </p:sp>
      <p:sp>
        <p:nvSpPr>
          <p:cNvPr id="8" name="TextBox 8"/>
          <p:cNvSpPr/>
          <p:nvPr/>
        </p:nvSpPr>
        <p:spPr>
          <a:xfrm>
            <a:off x="777240" y="2606040"/>
            <a:ext cx="50749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覆盖场景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local object / helper return / multi-level downcast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field store-load / two-holder precision / clone alias chain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Option / Result unwrap, ok_or, map, and_then, fallback, as_ref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Vec / iterator / collect, HashMap / BTreeMap value flow</a:t>
            </a:r>
          </a:p>
        </p:txBody>
      </p:sp>
      <p:sp>
        <p:nvSpPr>
          <p:cNvPr id="9" name="TextBox 9"/>
          <p:cNvSpPr/>
          <p:nvPr/>
        </p:nvSpPr>
        <p:spPr>
          <a:xfrm>
            <a:off x="6263640" y="2606040"/>
            <a:ext cx="50749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收尾质量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入口数与结果目录数均为 90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未检索到 boundary-unknown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未检索到 empty points-to cast source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interface / mixin downcast_ref 通过 wrapper/container 后仍可诊断</a:t>
            </a:r>
          </a:p>
        </p:txBody>
      </p:sp>
      <p:sp>
        <p:nvSpPr>
          <p:cNvPr id="10" name="TextBox 10"/>
          <p:cNvSpPr/>
          <p:nvPr/>
        </p:nvSpPr>
        <p:spPr>
          <a:xfrm>
            <a:off x="411480" y="6446520"/>
            <a:ext cx="1133856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Noto Sans CJK SC"/>
                <a:ea typeface="Noto Sans CJK SC"/>
                <a:cs typeface="Noto Sans CJK SC"/>
                <a:solidFill>
                  <a:srgbClr val="8A97A8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/>
          <p:nvPr/>
        </p:nvSpPr>
        <p:spPr>
          <a:xfrm>
            <a:off x="411480" y="201168"/>
            <a:ext cx="11338560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1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10. 典型修复案例：as_ref 引用 Wrapper</a:t>
            </a:r>
          </a:p>
          <a:p>
            <a:pPr algn="l"/>
            <a:r>
              <a:rPr lang="zh-CN" sz="1400">
                <a:latin typeface="Noto Sans CJK SC"/>
                <a:ea typeface="Noto Sans CJK SC"/>
                <a:cs typeface="Noto Sans CJK SC"/>
                <a:solidFill>
                  <a:srgbClr val="66758A"/>
                </a:solidFill>
              </a:rPr>
              <a:t>最后一轮 Lite DSL 扩充暴露并修复的代表性断流问题</a:t>
            </a:r>
          </a:p>
        </p:txBody>
      </p:sp>
      <p:sp>
        <p:nvSpPr>
          <p:cNvPr id="3" name="TextBox 3"/>
          <p:cNvSpPr/>
          <p:nvPr/>
        </p:nvSpPr>
        <p:spPr>
          <a:xfrm>
            <a:off x="777240" y="1143000"/>
            <a:ext cx="32918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4B42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问题形态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Option&lt;CRc&lt;T&gt;&gt;::as_ref()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Result&lt;CRc&lt;T&gt;, E&gt;::as_ref()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返回 Option&lt;&amp;CRc&lt;T&gt;&gt; / Result&lt;&amp;CRc&lt;T&gt;, &amp;E&gt;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旧模型未连接 destination 引用 payload</a:t>
            </a:r>
          </a:p>
        </p:txBody>
      </p:sp>
      <p:sp>
        <p:nvSpPr>
          <p:cNvPr id="4" name="TextBox 4"/>
          <p:cNvSpPr/>
          <p:nvPr/>
        </p:nvSpPr>
        <p:spPr>
          <a:xfrm>
            <a:off x="4434840" y="1143000"/>
            <a:ext cx="32918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修复策略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把 receiver payload 接到 destination payload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保留 receiver holder 已有对象流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支持 as_ref().unwrap().clone() 后进入 cast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避免 cast 源 points-to 为空</a:t>
            </a:r>
          </a:p>
        </p:txBody>
      </p:sp>
      <p:sp>
        <p:nvSpPr>
          <p:cNvPr id="5" name="TextBox 5"/>
          <p:cNvSpPr/>
          <p:nvPr/>
        </p:nvSpPr>
        <p:spPr>
          <a:xfrm>
            <a:off x="8092440" y="1143000"/>
            <a:ext cx="32918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验证结果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Option / Result safe 场景可证明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interface wrapper may-unsafe 可解释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mixin wrapper must-unsafe 可解释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最终矩阵无 unknown</a:t>
            </a:r>
          </a:p>
        </p:txBody>
      </p:sp>
      <p:sp>
        <p:nvSpPr>
          <p:cNvPr id="6" name="TextBox 6"/>
          <p:cNvSpPr/>
          <p:nvPr/>
        </p:nvSpPr>
        <p:spPr>
          <a:xfrm>
            <a:off x="411480" y="6446520"/>
            <a:ext cx="1133856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Noto Sans CJK SC"/>
                <a:ea typeface="Noto Sans CJK SC"/>
                <a:cs typeface="Noto Sans CJK SC"/>
                <a:solidFill>
                  <a:srgbClr val="8A97A8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/>
          <p:nvPr/>
        </p:nvSpPr>
        <p:spPr>
          <a:xfrm>
            <a:off x="411480" y="201168"/>
            <a:ext cx="11338560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1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11. 当前成果与工程产物</a:t>
            </a:r>
          </a:p>
          <a:p>
            <a:pPr algn="l"/>
            <a:r>
              <a:rPr lang="zh-CN" sz="1400">
                <a:latin typeface="Noto Sans CJK SC"/>
                <a:ea typeface="Noto Sans CJK SC"/>
                <a:cs typeface="Noto Sans CJK SC"/>
                <a:solidFill>
                  <a:srgbClr val="66758A"/>
                </a:solidFill>
              </a:rPr>
              <a:t>RCPTA 已形成可审计、可回归的静态分析与诊断工具链</a:t>
            </a:r>
          </a:p>
        </p:txBody>
      </p:sp>
      <p:sp>
        <p:nvSpPr>
          <p:cNvPr id="3" name="TextBox 3"/>
          <p:cNvSpPr/>
          <p:nvPr/>
        </p:nvSpPr>
        <p:spPr>
          <a:xfrm>
            <a:off x="731520" y="114300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分析能力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类级对象流恢复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字段流、函数参数/返回值传播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wrapper/container 摘要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动态类型集合推断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class/interface/mixin 类型关系解析</a:t>
            </a:r>
          </a:p>
        </p:txBody>
      </p:sp>
      <p:sp>
        <p:nvSpPr>
          <p:cNvPr id="4" name="TextBox 4"/>
          <p:cNvSpPr/>
          <p:nvPr/>
        </p:nvSpPr>
        <p:spPr>
          <a:xfrm>
            <a:off x="4389120" y="114300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输出产物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class_pag.txt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class_pts.txt / class_cg.txt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type-info.txt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inheritance_graph.txt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cast_safety.log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per-entry analysis_results</a:t>
            </a:r>
          </a:p>
        </p:txBody>
      </p:sp>
      <p:sp>
        <p:nvSpPr>
          <p:cNvPr id="5" name="TextBox 5"/>
          <p:cNvSpPr/>
          <p:nvPr/>
        </p:nvSpPr>
        <p:spPr>
          <a:xfrm>
            <a:off x="8046720" y="114300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23D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汇报结论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旧 DSL 四套件全入口可分析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Lite DSL 原始套件兼容性通过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90 个 cast risk matrix 场景完成分类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最终 unknown 和空源问题均清零</a:t>
            </a:r>
          </a:p>
        </p:txBody>
      </p:sp>
      <p:sp>
        <p:nvSpPr>
          <p:cNvPr id="6" name="TextBox 6"/>
          <p:cNvSpPr/>
          <p:nvPr/>
        </p:nvSpPr>
        <p:spPr>
          <a:xfrm>
            <a:off x="411480" y="6446520"/>
            <a:ext cx="1133856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Noto Sans CJK SC"/>
                <a:ea typeface="Noto Sans CJK SC"/>
                <a:cs typeface="Noto Sans CJK SC"/>
                <a:solidFill>
                  <a:srgbClr val="8A97A8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/>
          <p:nvPr/>
        </p:nvSpPr>
        <p:spPr>
          <a:xfrm>
            <a:off x="411480" y="201168"/>
            <a:ext cx="11338560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1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12. 边界与后续工作</a:t>
            </a:r>
          </a:p>
          <a:p>
            <a:pPr algn="l"/>
            <a:r>
              <a:rPr lang="zh-CN" sz="1400">
                <a:latin typeface="Noto Sans CJK SC"/>
                <a:ea typeface="Noto Sans CJK SC"/>
                <a:cs typeface="Noto Sans CJK SC"/>
                <a:solidFill>
                  <a:srgbClr val="66758A"/>
                </a:solidFill>
              </a:rPr>
              <a:t>当前版本优先保证稳定、可解释和高价值场景覆盖</a:t>
            </a:r>
          </a:p>
        </p:txBody>
      </p:sp>
      <p:sp>
        <p:nvSpPr>
          <p:cNvPr id="3" name="TextBox 3"/>
          <p:cNvSpPr/>
          <p:nvPr/>
        </p:nvSpPr>
        <p:spPr>
          <a:xfrm>
            <a:off x="777240" y="1234440"/>
            <a:ext cx="33832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9A18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当前边界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上下文不敏感、流不敏感会产生保守 may-unsafe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标准库 API 仍需按高价值场景补充摘要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当前结果主要服务静态诊断，尚未接入优化 pass</a:t>
            </a:r>
          </a:p>
        </p:txBody>
      </p:sp>
      <p:sp>
        <p:nvSpPr>
          <p:cNvPr id="4" name="TextBox 4"/>
          <p:cNvSpPr/>
          <p:nvPr/>
        </p:nvSpPr>
        <p:spPr>
          <a:xfrm>
            <a:off x="4434840" y="1234440"/>
            <a:ext cx="33832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FA8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下一步工程化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建立自动化回归 runner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把 cast_safety.log 接入 cast erase pass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将结果产物转为结构化 JSON 便于消费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按实际误报继续扩展摘要</a:t>
            </a:r>
          </a:p>
        </p:txBody>
      </p:sp>
      <p:sp>
        <p:nvSpPr>
          <p:cNvPr id="5" name="TextBox 5"/>
          <p:cNvSpPr/>
          <p:nvPr/>
        </p:nvSpPr>
        <p:spPr>
          <a:xfrm>
            <a:off x="8092440" y="1234440"/>
            <a:ext cx="33832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55B"/>
            </a:solidFill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1700" b="1">
                <a:latin typeface="Noto Sans CJK SC"/>
                <a:ea typeface="Noto Sans CJK SC"/>
                <a:cs typeface="Noto Sans CJK SC"/>
                <a:solidFill>
                  <a:srgbClr val="17233A"/>
                </a:solidFill>
              </a:rPr>
              <a:t>可扩展方向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引入调用上下文或对象敏感细化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针对 field overwrite 引入流敏感局部优化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支持更多 DSL runtime helper</a:t>
            </a:r>
          </a:p>
          <a:p>
            <a:pPr algn="l">
              <a:buChar char="•"/>
            </a:pPr>
            <a:r>
              <a:rPr lang="zh-CN" sz="1300">
                <a:latin typeface="Noto Sans CJK SC"/>
                <a:ea typeface="Noto Sans CJK SC"/>
                <a:cs typeface="Noto Sans CJK SC"/>
                <a:solidFill>
                  <a:srgbClr val="263B55"/>
                </a:solidFill>
              </a:rPr>
              <a:t>把诊断结果反馈给源码级开发工具</a:t>
            </a:r>
          </a:p>
        </p:txBody>
      </p:sp>
      <p:sp>
        <p:nvSpPr>
          <p:cNvPr id="6" name="TextBox 6"/>
          <p:cNvSpPr/>
          <p:nvPr/>
        </p:nvSpPr>
        <p:spPr>
          <a:xfrm>
            <a:off x="411480" y="6446520"/>
            <a:ext cx="1133856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Noto Sans CJK SC"/>
                <a:ea typeface="Noto Sans CJK SC"/>
                <a:cs typeface="Noto Sans CJK SC"/>
                <a:solidFill>
                  <a:srgbClr val="8A97A8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CPTA">
  <a:themeElements>
    <a:clrScheme name="RCPTA">
      <a:dk1>
        <a:srgbClr val="17233A"/>
      </a:dk1>
      <a:lt1>
        <a:srgbClr val="FFFFFF"/>
      </a:lt1>
      <a:dk2>
        <a:srgbClr val="263B55"/>
      </a:dk2>
      <a:lt2>
        <a:srgbClr val="F5F8FC"/>
      </a:lt2>
      <a:accent1>
        <a:srgbClr val="0F4FA8"/>
      </a:accent1>
      <a:accent2>
        <a:srgbClr val="43A55B"/>
      </a:accent2>
      <a:accent3>
        <a:srgbClr val="DFA23D"/>
      </a:accent3>
      <a:accent4>
        <a:srgbClr val="D94B42"/>
      </a:accent4>
      <a:accent5>
        <a:srgbClr val="D29A18"/>
      </a:accent5>
      <a:accent6>
        <a:srgbClr val="7AA7E8"/>
      </a:accent6>
      <a:hlink>
        <a:srgbClr val="0F4FA8"/>
      </a:hlink>
      <a:folHlink>
        <a:srgbClr val="0F4FA8"/>
      </a:folHlink>
    </a:clrScheme>
    <a:fontScheme name="RCPTA Fonts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RCPTA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PPTX Generator</Application>
  <PresentationFormat>On-screen Show (16:9)</PresentationFormat>
  <Slides>13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RCPTA 项目汇报</dc:title>
  <dc:creator>Codex</dc:creator>
  <cp:lastModifiedBy>Codex</cp:lastModifiedBy>
  <dcterms:created xsi:type="dcterms:W3CDTF">2026-07-01T00:00:00Z</dcterms:created>
  <dcterms:modified xsi:type="dcterms:W3CDTF">2026-07-01T00:00:00Z</dcterms:modified>
</cp:coreProperties>
</file>