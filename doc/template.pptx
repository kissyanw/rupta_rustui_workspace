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94" r:id="rId3"/>
    <p:sldId id="274" r:id="rId4"/>
    <p:sldId id="296" r:id="rId5"/>
    <p:sldId id="308" r:id="rId6"/>
    <p:sldId id="297" r:id="rId7"/>
    <p:sldId id="298" r:id="rId8"/>
    <p:sldId id="299" r:id="rId9"/>
    <p:sldId id="300" r:id="rId10"/>
    <p:sldId id="301" r:id="rId11"/>
    <p:sldId id="302" r:id="rId12"/>
    <p:sldId id="304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7454C-09B4-4476-98B2-A99DB63A56D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90D567-59A8-4C3D-83E5-1282274907B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封面与结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59313634" name="组合 6"/>
          <p:cNvGrpSpPr/>
          <p:nvPr userDrawn="1"/>
        </p:nvGrpSpPr>
        <p:grpSpPr bwMode="auto">
          <a:xfrm>
            <a:off x="347345" y="168784"/>
            <a:ext cx="914400" cy="752475"/>
            <a:chOff x="522" y="262"/>
            <a:chExt cx="1440" cy="1185"/>
          </a:xfrm>
        </p:grpSpPr>
        <p:grpSp>
          <p:nvGrpSpPr>
            <p:cNvPr id="4" name="group 2"/>
            <p:cNvGrpSpPr/>
            <p:nvPr/>
          </p:nvGrpSpPr>
          <p:grpSpPr bwMode="auto">
            <a:xfrm>
              <a:off x="522" y="262"/>
              <a:ext cx="1441" cy="1022"/>
              <a:chOff x="-8027670" y="36195"/>
              <a:chExt cx="915289" cy="648968"/>
            </a:xfrm>
          </p:grpSpPr>
          <p:pic>
            <p:nvPicPr>
              <p:cNvPr id="6" name="picture 6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 bwMode="auto">
              <a:xfrm rot="21600000">
                <a:off x="-8001635" y="36195"/>
                <a:ext cx="889254" cy="563117"/>
              </a:xfrm>
              <a:prstGeom prst="rect">
                <a:avLst/>
              </a:prstGeom>
            </p:spPr>
          </p:pic>
          <p:sp>
            <p:nvSpPr>
              <p:cNvPr id="8" name="textbox 8"/>
              <p:cNvSpPr/>
              <p:nvPr/>
            </p:nvSpPr>
            <p:spPr bwMode="auto">
              <a:xfrm>
                <a:off x="-8027670" y="83820"/>
                <a:ext cx="915035" cy="601344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>
                  <a:lnSpc>
                    <a:spcPct val="106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>
                  <a:lnSpc>
                    <a:spcPct val="106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>
                  <a:lnSpc>
                    <a:spcPct val="107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572135" algn="l" rtl="0">
                  <a:lnSpc>
                    <a:spcPct val="88000"/>
                  </a:lnSpc>
                  <a:spcBef>
                    <a:spcPts val="0"/>
                  </a:spcBef>
                  <a:defRPr/>
                </a:pPr>
                <a:r>
                  <a:rPr sz="700" i="1" spc="-10">
                    <a:solidFill>
                      <a:srgbClr val="005493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Software</a:t>
                </a:r>
                <a:endParaRPr sz="700"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10" name="textbox 10"/>
            <p:cNvSpPr/>
            <p:nvPr/>
          </p:nvSpPr>
          <p:spPr bwMode="auto">
            <a:xfrm>
              <a:off x="804" y="1261"/>
              <a:ext cx="1140" cy="187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>
                <a:lnSpc>
                  <a:spcPct val="86000"/>
                </a:lnSpc>
                <a:defRPr/>
              </a:pPr>
              <a:endParaRPr sz="10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>
                <a:lnSpc>
                  <a:spcPct val="87000"/>
                </a:lnSpc>
                <a:defRPr/>
              </a:pPr>
              <a:r>
                <a:rPr sz="700" i="1" spc="0">
                  <a:solidFill>
                    <a:srgbClr val="005493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Engineering Group</a:t>
              </a:r>
              <a:endParaRPr sz="70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741514414" name="picture 4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 bwMode="auto">
          <a:xfrm rot="21600000">
            <a:off x="9525256" y="168784"/>
            <a:ext cx="2372104" cy="754379"/>
          </a:xfrm>
          <a:prstGeom prst="rect">
            <a:avLst/>
          </a:prstGeom>
        </p:spPr>
      </p:pic>
      <p:grpSp>
        <p:nvGrpSpPr>
          <p:cNvPr id="383532053" name="组合 17"/>
          <p:cNvGrpSpPr/>
          <p:nvPr userDrawn="1"/>
        </p:nvGrpSpPr>
        <p:grpSpPr bwMode="auto">
          <a:xfrm>
            <a:off x="3362324" y="4008755"/>
            <a:ext cx="5589270" cy="1436370"/>
            <a:chOff x="5295" y="6067"/>
            <a:chExt cx="8802" cy="2262"/>
          </a:xfrm>
        </p:grpSpPr>
        <p:sp>
          <p:nvSpPr>
            <p:cNvPr id="11" name="文本框 10"/>
            <p:cNvSpPr txBox="1"/>
            <p:nvPr userDrawn="1"/>
          </p:nvSpPr>
          <p:spPr bwMode="auto">
            <a:xfrm>
              <a:off x="7508" y="6067"/>
              <a:ext cx="419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sz="2400"/>
                <a:t>王岩</a:t>
              </a:r>
              <a:endParaRPr lang="zh-CN" sz="2400"/>
            </a:p>
          </p:txBody>
        </p:sp>
        <p:sp>
          <p:nvSpPr>
            <p:cNvPr id="2" name="文本框 1"/>
            <p:cNvSpPr txBox="1"/>
            <p:nvPr userDrawn="1"/>
          </p:nvSpPr>
          <p:spPr bwMode="auto">
            <a:xfrm>
              <a:off x="7508" y="6837"/>
              <a:ext cx="419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/>
                <a:t>65202532006</a:t>
              </a:r>
              <a:endParaRPr lang="en-US" sz="2400"/>
            </a:p>
          </p:txBody>
        </p:sp>
        <p:sp>
          <p:nvSpPr>
            <p:cNvPr id="3" name="文本框 2"/>
            <p:cNvSpPr txBox="1"/>
            <p:nvPr userDrawn="1"/>
          </p:nvSpPr>
          <p:spPr bwMode="auto">
            <a:xfrm>
              <a:off x="5295" y="7606"/>
              <a:ext cx="8803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400"/>
                <a:t>65202532006@smail.nju.edu.cn</a:t>
              </a:r>
              <a:endParaRPr lang="en-US" sz="2400"/>
            </a:p>
          </p:txBody>
        </p:sp>
      </p:grpSp>
      <p:sp>
        <p:nvSpPr>
          <p:cNvPr id="2106657617" name="日期占位符 15"/>
          <p:cNvSpPr>
            <a:spLocks noGrp="1"/>
          </p:cNvSpPr>
          <p:nvPr>
            <p:ph type="dt" sz="half" idx="2"/>
          </p:nvPr>
        </p:nvSpPr>
        <p:spPr bwMode="auto">
          <a:xfrm>
            <a:off x="345440" y="64274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2F288E0-7875-42C4-84C8-98DBBD3BF4D2}" type="datetime1">
              <a:rPr lang="zh-CN" altLang="en-US"/>
            </a:fld>
            <a:endParaRPr lang="zh-CN"/>
          </a:p>
        </p:txBody>
      </p:sp>
      <p:sp>
        <p:nvSpPr>
          <p:cNvPr id="2020500022" name="灯片编号占位符 16"/>
          <p:cNvSpPr>
            <a:spLocks noGrp="1"/>
          </p:cNvSpPr>
          <p:nvPr>
            <p:ph type="sldNum" sz="quarter" idx="4"/>
          </p:nvPr>
        </p:nvSpPr>
        <p:spPr bwMode="auto">
          <a:xfrm>
            <a:off x="9102725" y="64274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D9BB5D0-35E4-459D-AEF3-FE4D7C45CC19}" type="slidenum">
              <a:rPr lang="en-US" altLang="zh-CN"/>
            </a:fld>
            <a:endParaRPr lang="zh-CN"/>
          </a:p>
        </p:txBody>
      </p:sp>
      <p:sp>
        <p:nvSpPr>
          <p:cNvPr id="1679060576" name="矩形 24"/>
          <p:cNvSpPr/>
          <p:nvPr userDrawn="1"/>
        </p:nvSpPr>
        <p:spPr bwMode="auto">
          <a:xfrm>
            <a:off x="3175" y="1349375"/>
            <a:ext cx="12192635" cy="2366010"/>
          </a:xfrm>
          <a:prstGeom prst="rect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sz="1000"/>
          </a:p>
        </p:txBody>
      </p:sp>
      <p:sp>
        <p:nvSpPr>
          <p:cNvPr id="131129280" name="文本占位符 26"/>
          <p:cNvSpPr>
            <a:spLocks noGrp="1"/>
          </p:cNvSpPr>
          <p:nvPr>
            <p:ph type="body" idx="10" hasCustomPrompt="1"/>
          </p:nvPr>
        </p:nvSpPr>
        <p:spPr bwMode="auto">
          <a:xfrm>
            <a:off x="6350" y="1349375"/>
            <a:ext cx="12203430" cy="237934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44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zh-CN"/>
              <a:t>单击此处插入标题</a:t>
            </a:r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目录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3688134" name="picture 22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 bwMode="auto">
          <a:xfrm rot="21600000">
            <a:off x="11372850" y="131064"/>
            <a:ext cx="687323" cy="861821"/>
          </a:xfrm>
          <a:prstGeom prst="rect">
            <a:avLst/>
          </a:prstGeom>
        </p:spPr>
      </p:pic>
      <p:grpSp>
        <p:nvGrpSpPr>
          <p:cNvPr id="1413621962" name="组合 6"/>
          <p:cNvGrpSpPr/>
          <p:nvPr userDrawn="1"/>
        </p:nvGrpSpPr>
        <p:grpSpPr bwMode="auto">
          <a:xfrm>
            <a:off x="10258425" y="185294"/>
            <a:ext cx="914400" cy="752475"/>
            <a:chOff x="522" y="262"/>
            <a:chExt cx="1440" cy="1185"/>
          </a:xfrm>
        </p:grpSpPr>
        <p:grpSp>
          <p:nvGrpSpPr>
            <p:cNvPr id="4" name="group 2"/>
            <p:cNvGrpSpPr/>
            <p:nvPr/>
          </p:nvGrpSpPr>
          <p:grpSpPr bwMode="auto">
            <a:xfrm>
              <a:off x="522" y="262"/>
              <a:ext cx="1441" cy="1022"/>
              <a:chOff x="-8027670" y="36195"/>
              <a:chExt cx="915289" cy="648968"/>
            </a:xfrm>
          </p:grpSpPr>
          <p:pic>
            <p:nvPicPr>
              <p:cNvPr id="6" name="picture 6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 bwMode="auto">
              <a:xfrm rot="21600000">
                <a:off x="-8001635" y="36195"/>
                <a:ext cx="889254" cy="563117"/>
              </a:xfrm>
              <a:prstGeom prst="rect">
                <a:avLst/>
              </a:prstGeom>
            </p:spPr>
          </p:pic>
          <p:sp>
            <p:nvSpPr>
              <p:cNvPr id="8" name="textbox 8"/>
              <p:cNvSpPr/>
              <p:nvPr/>
            </p:nvSpPr>
            <p:spPr bwMode="auto">
              <a:xfrm>
                <a:off x="-8027670" y="83820"/>
                <a:ext cx="915035" cy="601344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>
                  <a:lnSpc>
                    <a:spcPct val="106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>
                  <a:lnSpc>
                    <a:spcPct val="106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>
                  <a:lnSpc>
                    <a:spcPct val="107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572135" algn="l" rtl="0">
                  <a:lnSpc>
                    <a:spcPct val="88000"/>
                  </a:lnSpc>
                  <a:spcBef>
                    <a:spcPts val="0"/>
                  </a:spcBef>
                  <a:defRPr/>
                </a:pPr>
                <a:r>
                  <a:rPr sz="700" i="1" spc="-10">
                    <a:solidFill>
                      <a:srgbClr val="005493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Software</a:t>
                </a:r>
                <a:endParaRPr sz="700"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10" name="textbox 10"/>
            <p:cNvSpPr/>
            <p:nvPr/>
          </p:nvSpPr>
          <p:spPr bwMode="auto">
            <a:xfrm>
              <a:off x="804" y="1261"/>
              <a:ext cx="1140" cy="187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>
                <a:lnSpc>
                  <a:spcPct val="86000"/>
                </a:lnSpc>
                <a:defRPr/>
              </a:pPr>
              <a:endParaRPr sz="10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>
                <a:lnSpc>
                  <a:spcPct val="87000"/>
                </a:lnSpc>
                <a:defRPr/>
              </a:pPr>
              <a:r>
                <a:rPr sz="700" i="1" spc="0">
                  <a:solidFill>
                    <a:srgbClr val="005493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Engineering Group</a:t>
              </a:r>
              <a:endParaRPr sz="70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1229123085" name="组合 12"/>
          <p:cNvGrpSpPr/>
          <p:nvPr userDrawn="1"/>
        </p:nvGrpSpPr>
        <p:grpSpPr bwMode="auto">
          <a:xfrm>
            <a:off x="3375859" y="1172845"/>
            <a:ext cx="2119431" cy="4457700"/>
            <a:chOff x="5863" y="2413"/>
            <a:chExt cx="2159" cy="5886"/>
          </a:xfrm>
        </p:grpSpPr>
        <p:grpSp>
          <p:nvGrpSpPr>
            <p:cNvPr id="11" name="组合 10"/>
            <p:cNvGrpSpPr/>
            <p:nvPr userDrawn="1"/>
          </p:nvGrpSpPr>
          <p:grpSpPr bwMode="auto">
            <a:xfrm>
              <a:off x="7902" y="2413"/>
              <a:ext cx="120" cy="5886"/>
              <a:chOff x="5145" y="1553"/>
              <a:chExt cx="120" cy="5886"/>
            </a:xfrm>
          </p:grpSpPr>
          <p:cxnSp>
            <p:nvCxnSpPr>
              <p:cNvPr id="5" name="直接连接符 25"/>
              <p:cNvCxnSpPr/>
              <p:nvPr userDrawn="1"/>
            </p:nvCxnSpPr>
            <p:spPr bwMode="auto">
              <a:xfrm>
                <a:off x="5145" y="1553"/>
                <a:ext cx="0" cy="5695"/>
              </a:xfrm>
              <a:prstGeom prst="line">
                <a:avLst/>
              </a:prstGeom>
              <a:ln w="76200">
                <a:solidFill>
                  <a:srgbClr val="6B1066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29"/>
              <p:cNvCxnSpPr/>
              <p:nvPr userDrawn="1"/>
            </p:nvCxnSpPr>
            <p:spPr bwMode="auto">
              <a:xfrm>
                <a:off x="5265" y="1745"/>
                <a:ext cx="0" cy="5695"/>
              </a:xfrm>
              <a:prstGeom prst="line">
                <a:avLst/>
              </a:prstGeom>
              <a:ln w="76200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文本框 13"/>
            <p:cNvSpPr txBox="1">
              <a:spLocks noChangeArrowheads="1"/>
            </p:cNvSpPr>
            <p:nvPr userDrawn="1"/>
          </p:nvSpPr>
          <p:spPr bwMode="auto">
            <a:xfrm rot="12000000">
              <a:off x="5863" y="2667"/>
              <a:ext cx="1499" cy="5226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anchor="ctr" anchorCtr="0">
              <a:no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defRPr sz="2400">
                  <a:solidFill>
                    <a:schemeClr val="tx1"/>
                  </a:solidFill>
                  <a:latin typeface="Arial" panose="020B0604020202020204"/>
                  <a:ea typeface="微软雅黑" panose="020B0503020204020204" charset="-122"/>
                </a:defRPr>
              </a:lvl9pPr>
            </a:lstStyle>
            <a:p>
              <a:pPr algn="ctr">
                <a:buFont typeface="Arial" panose="020B0604020202020204"/>
                <a:buNone/>
                <a:defRPr/>
              </a:pPr>
              <a:r>
                <a:rPr lang="en-US" sz="4400" b="1">
                  <a:latin typeface="Arial" panose="020B0604020202020204"/>
                  <a:ea typeface="Arial" panose="020B0604020202020204"/>
                  <a:cs typeface="Arial" panose="020B0604020202020204"/>
                </a:rPr>
                <a:t>OutLine</a:t>
              </a:r>
              <a:endParaRPr lang="en-US" sz="4400" b="1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PhAnim="0" userDrawn="1">
  <p:cSld name="正文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227545" name="picture 22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 bwMode="auto">
          <a:xfrm rot="21600000">
            <a:off x="11372850" y="131064"/>
            <a:ext cx="687323" cy="861821"/>
          </a:xfrm>
          <a:prstGeom prst="rect">
            <a:avLst/>
          </a:prstGeom>
        </p:spPr>
      </p:pic>
      <p:grpSp>
        <p:nvGrpSpPr>
          <p:cNvPr id="1524423570" name="组合 6"/>
          <p:cNvGrpSpPr/>
          <p:nvPr userDrawn="1"/>
        </p:nvGrpSpPr>
        <p:grpSpPr bwMode="auto">
          <a:xfrm>
            <a:off x="10258425" y="185294"/>
            <a:ext cx="914400" cy="752475"/>
            <a:chOff x="522" y="262"/>
            <a:chExt cx="1440" cy="1185"/>
          </a:xfrm>
        </p:grpSpPr>
        <p:grpSp>
          <p:nvGrpSpPr>
            <p:cNvPr id="8" name="group 2"/>
            <p:cNvGrpSpPr/>
            <p:nvPr/>
          </p:nvGrpSpPr>
          <p:grpSpPr bwMode="auto">
            <a:xfrm>
              <a:off x="522" y="262"/>
              <a:ext cx="1441" cy="1022"/>
              <a:chOff x="-8027670" y="36195"/>
              <a:chExt cx="915289" cy="648968"/>
            </a:xfrm>
          </p:grpSpPr>
          <p:pic>
            <p:nvPicPr>
              <p:cNvPr id="9" name="picture 6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 bwMode="auto">
              <a:xfrm rot="21600000">
                <a:off x="-8001635" y="36195"/>
                <a:ext cx="889254" cy="563117"/>
              </a:xfrm>
              <a:prstGeom prst="rect">
                <a:avLst/>
              </a:prstGeom>
            </p:spPr>
          </p:pic>
          <p:sp>
            <p:nvSpPr>
              <p:cNvPr id="10" name="textbox 8"/>
              <p:cNvSpPr/>
              <p:nvPr/>
            </p:nvSpPr>
            <p:spPr bwMode="auto">
              <a:xfrm>
                <a:off x="-8027670" y="83820"/>
                <a:ext cx="915035" cy="601344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>
                  <a:lnSpc>
                    <a:spcPct val="106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>
                  <a:lnSpc>
                    <a:spcPct val="106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algn="l" rtl="0">
                  <a:lnSpc>
                    <a:spcPct val="107000"/>
                  </a:lnSpc>
                  <a:defRPr/>
                </a:pPr>
                <a:endParaRPr sz="1000">
                  <a:latin typeface="Arial" panose="020B0604020202020204"/>
                  <a:ea typeface="Arial" panose="020B0604020202020204"/>
                  <a:cs typeface="Arial" panose="020B0604020202020204"/>
                </a:endParaRPr>
              </a:p>
              <a:p>
                <a:pPr marL="572135" algn="l" rtl="0">
                  <a:lnSpc>
                    <a:spcPct val="88000"/>
                  </a:lnSpc>
                  <a:spcBef>
                    <a:spcPts val="0"/>
                  </a:spcBef>
                  <a:defRPr/>
                </a:pPr>
                <a:r>
                  <a:rPr sz="700" i="1" spc="-10">
                    <a:solidFill>
                      <a:srgbClr val="005493">
                        <a:alpha val="100000"/>
                      </a:srgbClr>
                    </a:solidFill>
                    <a:latin typeface="Times New Roman" panose="02020603050405020304"/>
                    <a:ea typeface="Times New Roman" panose="02020603050405020304"/>
                    <a:cs typeface="Times New Roman" panose="02020603050405020304"/>
                  </a:rPr>
                  <a:t>Software</a:t>
                </a:r>
                <a:endParaRPr sz="700">
                  <a:latin typeface="Times New Roman" panose="02020603050405020304"/>
                  <a:ea typeface="Times New Roman" panose="02020603050405020304"/>
                  <a:cs typeface="Times New Roman" panose="02020603050405020304"/>
                </a:endParaRPr>
              </a:p>
            </p:txBody>
          </p:sp>
        </p:grpSp>
        <p:sp>
          <p:nvSpPr>
            <p:cNvPr id="11" name="textbox 10"/>
            <p:cNvSpPr/>
            <p:nvPr/>
          </p:nvSpPr>
          <p:spPr bwMode="auto">
            <a:xfrm>
              <a:off x="804" y="1261"/>
              <a:ext cx="1140" cy="187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>
                <a:lnSpc>
                  <a:spcPct val="86000"/>
                </a:lnSpc>
                <a:defRPr/>
              </a:pPr>
              <a:endParaRPr sz="10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>
                <a:lnSpc>
                  <a:spcPct val="87000"/>
                </a:lnSpc>
                <a:defRPr/>
              </a:pPr>
              <a:r>
                <a:rPr sz="700" i="1" spc="0">
                  <a:solidFill>
                    <a:srgbClr val="005493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Engineering Group</a:t>
              </a:r>
              <a:endParaRPr sz="70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414357084" name="Title 1"/>
          <p:cNvSpPr>
            <a:spLocks noGrp="1"/>
          </p:cNvSpPr>
          <p:nvPr>
            <p:ph type="title"/>
          </p:nvPr>
        </p:nvSpPr>
        <p:spPr bwMode="auto">
          <a:xfrm>
            <a:off x="260273" y="227811"/>
            <a:ext cx="6959260" cy="510777"/>
          </a:xfrm>
        </p:spPr>
        <p:txBody>
          <a:bodyPr>
            <a:normAutofit/>
          </a:bodyPr>
          <a:lstStyle>
            <a:lvl1pPr>
              <a:defRPr sz="2800">
                <a:latin typeface="+mj-ea"/>
                <a:ea typeface="+mj-ea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en-US"/>
          </a:p>
        </p:txBody>
      </p:sp>
      <p:sp>
        <p:nvSpPr>
          <p:cNvPr id="145266904" name="矩形 48"/>
          <p:cNvSpPr/>
          <p:nvPr userDrawn="1"/>
        </p:nvSpPr>
        <p:spPr bwMode="auto">
          <a:xfrm flipV="1">
            <a:off x="1" y="725116"/>
            <a:ext cx="9143999" cy="45719"/>
          </a:xfrm>
          <a:prstGeom prst="rect">
            <a:avLst/>
          </a:prstGeom>
          <a:solidFill>
            <a:srgbClr val="63115E"/>
          </a:solidFill>
          <a:ln>
            <a:solidFill>
              <a:srgbClr val="63115E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sz="1800" b="0" i="0" u="none" strike="noStrike" cap="none" spc="0">
              <a:ln>
                <a:noFill/>
              </a:ln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PhAnim="0" userDrawn="1">
  <p:cSld name="节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851129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990800" y="3848400"/>
            <a:ext cx="7768800" cy="7668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zh-CN"/>
              <a:t>单击此处编辑标题</a:t>
            </a:r>
            <a:endParaRPr lang="zh-CN"/>
          </a:p>
        </p:txBody>
      </p:sp>
      <p:sp>
        <p:nvSpPr>
          <p:cNvPr id="1009317342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1990800" y="4615200"/>
            <a:ext cx="7768800" cy="867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412640043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1642595116" name="页脚占位符 4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836880279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PhAnim="0" userDrawn="1">
  <p:cSld name="两栏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20752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395647089" name="内容占位符 2"/>
          <p:cNvSpPr>
            <a:spLocks noGrp="1"/>
          </p:cNvSpPr>
          <p:nvPr>
            <p:ph sz="half" idx="1"/>
          </p:nvPr>
        </p:nvSpPr>
        <p:spPr bwMode="auto"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727677725" name="内容占位符 3"/>
          <p:cNvSpPr>
            <a:spLocks noGrp="1"/>
          </p:cNvSpPr>
          <p:nvPr>
            <p:ph sz="half" idx="2"/>
          </p:nvPr>
        </p:nvSpPr>
        <p:spPr bwMode="auto">
          <a:xfrm>
            <a:off x="6411600" y="1501200"/>
            <a:ext cx="5176800" cy="4748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90904747" name="日期占位符 4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138805087" name="页脚占位符 5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420782939" name="灯片编号占位符 6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PhAnim="0" userDrawn="1">
  <p:cSld name="比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271799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750827875" name="文本占位符 2"/>
          <p:cNvSpPr>
            <a:spLocks noGrp="1"/>
          </p:cNvSpPr>
          <p:nvPr>
            <p:ph type="body" idx="1" hasCustomPrompt="1"/>
          </p:nvPr>
        </p:nvSpPr>
        <p:spPr bwMode="auto">
          <a:xfrm>
            <a:off x="608400" y="1429200"/>
            <a:ext cx="5342400" cy="381600"/>
          </a:xfrm>
          <a:prstGeom prst="rect">
            <a:avLst/>
          </a:prstGeo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1957320090" name="内容占位符 3"/>
          <p:cNvSpPr>
            <a:spLocks noGrp="1"/>
          </p:cNvSpPr>
          <p:nvPr>
            <p:ph sz="half" idx="2"/>
          </p:nvPr>
        </p:nvSpPr>
        <p:spPr bwMode="auto">
          <a:xfrm>
            <a:off x="60840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790113291" name="文本占位符 4"/>
          <p:cNvSpPr>
            <a:spLocks noGrp="1"/>
          </p:cNvSpPr>
          <p:nvPr>
            <p:ph type="body" sz="quarter" idx="3" hasCustomPrompt="1"/>
          </p:nvPr>
        </p:nvSpPr>
        <p:spPr bwMode="auto">
          <a:xfrm>
            <a:off x="6235750" y="1421729"/>
            <a:ext cx="5342400" cy="38160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zh-CN"/>
              <a:t>单击此处编辑文本</a:t>
            </a:r>
            <a:endParaRPr lang="zh-CN"/>
          </a:p>
        </p:txBody>
      </p:sp>
      <p:sp>
        <p:nvSpPr>
          <p:cNvPr id="138161776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23575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671155412" name="日期占位符 6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820147506" name="页脚占位符 7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066023087" name="灯片编号占位符 8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PhAnim="0" userDrawn="1">
  <p:cSld name="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753064" name="标题 1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819011108" name="日期占位符 2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902003452" name="页脚占位符 3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539154581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空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19900" name="日期占位符 1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607824941" name="页脚占位符 2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14168696" name="灯片编号占位符 3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图片与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965304" name="图片占位符 2"/>
          <p:cNvSpPr>
            <a:spLocks noGrp="1"/>
          </p:cNvSpPr>
          <p:nvPr>
            <p:ph type="pic" idx="1"/>
          </p:nvPr>
        </p:nvSpPr>
        <p:spPr bwMode="auto"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>
              <a:defRPr/>
            </a:pPr>
            <a:endParaRPr lang="zh-CN"/>
          </a:p>
        </p:txBody>
      </p:sp>
      <p:sp>
        <p:nvSpPr>
          <p:cNvPr id="728917336" name="文本占位符 3"/>
          <p:cNvSpPr>
            <a:spLocks noGrp="1"/>
          </p:cNvSpPr>
          <p:nvPr>
            <p:ph type="body" sz="half" idx="2"/>
          </p:nvPr>
        </p:nvSpPr>
        <p:spPr bwMode="auto"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  <p:sp>
        <p:nvSpPr>
          <p:cNvPr id="2136167136" name="日期占位符 4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EFD9D74-47D9-4702-A33C-335B63B48DBF}" type="datetime1">
              <a:rPr lang="zh-CN" altLang="en-US"/>
            </a:fld>
            <a:endParaRPr lang="zh-CN"/>
          </a:p>
        </p:txBody>
      </p:sp>
      <p:sp>
        <p:nvSpPr>
          <p:cNvPr id="1694377918" name="页脚占位符 5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788580423" name="灯片编号占位符 6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ABC47A4-756D-490B-A52F-7D9E2C9FC05F}" type="slidenum">
              <a:rPr lang="en-US" altLang="zh-CN"/>
            </a:fld>
            <a:endParaRPr lang="zh-CN"/>
          </a:p>
        </p:txBody>
      </p:sp>
      <p:sp>
        <p:nvSpPr>
          <p:cNvPr id="247031165" name="标题 8"/>
          <p:cNvSpPr>
            <a:spLocks noGrp="1"/>
          </p:cNvSpPr>
          <p:nvPr>
            <p:ph type="title"/>
          </p:nvPr>
        </p:nvSpPr>
        <p:spPr bwMode="auto">
          <a:xfrm>
            <a:off x="608400" y="608400"/>
            <a:ext cx="10969200" cy="705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PhAnim="0" userDrawn="1">
  <p:cSld name="竖排标题与文本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88516" name="竖排标题 1"/>
          <p:cNvSpPr>
            <a:spLocks noGrp="1"/>
          </p:cNvSpPr>
          <p:nvPr>
            <p:ph type="title" orient="vert" hasCustomPrompt="1"/>
          </p:nvPr>
        </p:nvSpPr>
        <p:spPr bwMode="auto"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>
              <a:defRPr/>
            </a:pPr>
            <a:r>
              <a:rPr lang="zh-CN"/>
              <a:t>单击此处编辑标题</a:t>
            </a:r>
            <a:endParaRPr lang="zh-CN"/>
          </a:p>
        </p:txBody>
      </p:sp>
      <p:sp>
        <p:nvSpPr>
          <p:cNvPr id="1168716430" name="竖排文字占位符 2"/>
          <p:cNvSpPr>
            <a:spLocks noGrp="1"/>
          </p:cNvSpPr>
          <p:nvPr>
            <p:ph type="body" orient="vert" idx="1"/>
          </p:nvPr>
        </p:nvSpPr>
        <p:spPr bwMode="auto"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592880175" name="日期占位符 3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909604966" name="页脚占位符 4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1193191358" name="灯片编号占位符 5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573812" name="日期占位符 2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143951934" name="页脚占位符 3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37562105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  <p:sp>
        <p:nvSpPr>
          <p:cNvPr id="1306809011" name="内容占位符 6"/>
          <p:cNvSpPr>
            <a:spLocks noGrp="1"/>
          </p:cNvSpPr>
          <p:nvPr>
            <p:ph sz="quarter" idx="13"/>
          </p:nvPr>
        </p:nvSpPr>
        <p:spPr bwMode="auto"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末尾幻灯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929898" name="日期占位符 2"/>
          <p:cNvSpPr>
            <a:spLocks noGrp="1"/>
          </p:cNvSpPr>
          <p:nvPr>
            <p:ph type="dt" sz="half" idx="10"/>
          </p:nvPr>
        </p:nvSpPr>
        <p:spPr bwMode="auto"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60FBDFE-C587-4B4C-A407-44438C67B59E}" type="datetime1">
              <a:rPr lang="zh-CN" altLang="en-US"/>
            </a:fld>
            <a:endParaRPr lang="zh-CN"/>
          </a:p>
        </p:txBody>
      </p:sp>
      <p:sp>
        <p:nvSpPr>
          <p:cNvPr id="264009795" name="页脚占位符 3"/>
          <p:cNvSpPr>
            <a:spLocks noGrp="1"/>
          </p:cNvSpPr>
          <p:nvPr>
            <p:ph type="ftr" sz="quarter" idx="11"/>
          </p:nvPr>
        </p:nvSpPr>
        <p:spPr bwMode="auto"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/>
          </a:p>
        </p:txBody>
      </p:sp>
      <p:sp>
        <p:nvSpPr>
          <p:cNvPr id="658066986" name="灯片编号占位符 4"/>
          <p:cNvSpPr>
            <a:spLocks noGrp="1"/>
          </p:cNvSpPr>
          <p:nvPr>
            <p:ph type="sldNum" sz="quarter" idx="12"/>
          </p:nvPr>
        </p:nvSpPr>
        <p:spPr bwMode="auto">
          <a:xfrm>
            <a:off x="8955070" y="6314400"/>
            <a:ext cx="2700000" cy="316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9AE70B2-8BF9-45C0-BB95-33D1B9D3A854}" type="slidenum">
              <a:rPr lang="en-US" altLang="zh-CN"/>
            </a:fld>
            <a:endParaRPr lang="zh-CN"/>
          </a:p>
        </p:txBody>
      </p:sp>
      <p:sp>
        <p:nvSpPr>
          <p:cNvPr id="693684087" name="标题 1"/>
          <p:cNvSpPr>
            <a:spLocks noGrp="1"/>
          </p:cNvSpPr>
          <p:nvPr>
            <p:ph type="title" hasCustomPrompt="1"/>
          </p:nvPr>
        </p:nvSpPr>
        <p:spPr bwMode="auto"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zh-CN"/>
              <a:t>单击此处编辑标题</a:t>
            </a:r>
            <a:endParaRPr lang="zh-CN"/>
          </a:p>
        </p:txBody>
      </p:sp>
      <p:sp>
        <p:nvSpPr>
          <p:cNvPr id="772080155" name="文本占位符 6"/>
          <p:cNvSpPr>
            <a:spLocks noGrp="1"/>
          </p:cNvSpPr>
          <p:nvPr>
            <p:ph type="body" sz="quarter" idx="13"/>
          </p:nvPr>
        </p:nvSpPr>
        <p:spPr bwMode="auto"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942169" name="日期占位符 15"/>
          <p:cNvSpPr>
            <a:spLocks noGrp="1"/>
          </p:cNvSpPr>
          <p:nvPr userDrawn="1"/>
        </p:nvSpPr>
        <p:spPr bwMode="auto">
          <a:xfrm>
            <a:off x="345440" y="64274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2F288E0-7875-42C4-84C8-98DBBD3BF4D2}" type="datetime1">
              <a:rPr lang="zh-CN" altLang="en-US"/>
            </a:fld>
            <a:endParaRPr lang="zh-CN"/>
          </a:p>
        </p:txBody>
      </p:sp>
      <p:sp>
        <p:nvSpPr>
          <p:cNvPr id="670774988" name="灯片编号占位符 16"/>
          <p:cNvSpPr>
            <a:spLocks noGrp="1"/>
          </p:cNvSpPr>
          <p:nvPr userDrawn="1"/>
        </p:nvSpPr>
        <p:spPr bwMode="auto">
          <a:xfrm>
            <a:off x="9102725" y="64274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7D9BB5D0-35E4-459D-AEF3-FE4D7C45CC19}" type="slidenum">
              <a:rPr lang="en-US" altLang="zh-CN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>
        <a:lnSpc>
          <a:spcPct val="100000"/>
        </a:lnSpc>
        <a:spcBef>
          <a:spcPts val="0"/>
        </a:spcBef>
        <a:buNone/>
        <a:defRPr sz="3600" b="0" u="none" strike="noStrik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/>
        <a:buChar char="●"/>
        <a:defRPr sz="18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tabLst>
          <a:tab pos="1609090" algn="l"/>
          <a:tab pos="1609090" algn="l"/>
          <a:tab pos="1609090" algn="l"/>
          <a:tab pos="1609090" algn="l"/>
        </a:tabLst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120000"/>
        </a:lnSpc>
        <a:spcBef>
          <a:spcPts val="0"/>
        </a:spcBef>
        <a:spcAft>
          <a:spcPts val="600"/>
        </a:spcAft>
        <a:buFont typeface="Arial" panose="020B0604020202020204"/>
        <a:buChar char="●"/>
        <a:defRPr sz="16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120000"/>
        </a:lnSpc>
        <a:spcBef>
          <a:spcPts val="0"/>
        </a:spcBef>
        <a:spcAft>
          <a:spcPts val="300"/>
        </a:spcAft>
        <a:buFont typeface="Arial" panose="020B0604020202020204"/>
        <a:buChar char="•"/>
        <a:defRPr sz="1400" u="none" strike="noStrik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0"/>
          </p:nvPr>
        </p:nvSpPr>
        <p:spPr/>
        <p:txBody>
          <a:bodyPr/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Rust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编程语言特性增强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第二阶段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项目背景与目标（第二阶段）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82270" y="1287780"/>
            <a:ext cx="10607040" cy="3356610"/>
            <a:chOff x="602" y="1392"/>
            <a:chExt cx="16704" cy="5286"/>
          </a:xfrm>
        </p:grpSpPr>
        <p:grpSp>
          <p:nvGrpSpPr>
            <p:cNvPr id="22" name="组合 21"/>
            <p:cNvGrpSpPr/>
            <p:nvPr/>
          </p:nvGrpSpPr>
          <p:grpSpPr>
            <a:xfrm>
              <a:off x="602" y="1392"/>
              <a:ext cx="16704" cy="874"/>
              <a:chOff x="602" y="2012"/>
              <a:chExt cx="16704" cy="875"/>
            </a:xfrm>
          </p:grpSpPr>
          <p:sp>
            <p:nvSpPr>
              <p:cNvPr id="4" name="Text 6"/>
              <p:cNvSpPr/>
              <p:nvPr>
                <p:custDataLst>
                  <p:tags r:id="rId1"/>
                </p:custDataLst>
              </p:nvPr>
            </p:nvSpPr>
            <p:spPr>
              <a:xfrm>
                <a:off x="602" y="2233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2000" dirty="0"/>
              </a:p>
            </p:txBody>
          </p:sp>
          <p:sp>
            <p:nvSpPr>
              <p:cNvPr id="9" name="Text 7"/>
              <p:cNvSpPr/>
              <p:nvPr>
                <p:custDataLst>
                  <p:tags r:id="rId2"/>
                </p:custDataLst>
              </p:nvPr>
            </p:nvSpPr>
            <p:spPr>
              <a:xfrm>
                <a:off x="1077" y="2012"/>
                <a:ext cx="16229" cy="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 fontScale="90000"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RCPTA = Rust Class Pointer Type Analysis，面向 Rust Class DSL 程序的类级静态分析工具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602" y="2495"/>
              <a:ext cx="16703" cy="874"/>
              <a:chOff x="602" y="3126"/>
              <a:chExt cx="16703" cy="874"/>
            </a:xfrm>
          </p:grpSpPr>
          <p:sp>
            <p:nvSpPr>
              <p:cNvPr id="7" name="Text 8"/>
              <p:cNvSpPr/>
              <p:nvPr>
                <p:custDataLst>
                  <p:tags r:id="rId3"/>
                </p:custDataLst>
              </p:nvPr>
            </p:nvSpPr>
            <p:spPr>
              <a:xfrm>
                <a:off x="602" y="3347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2000" dirty="0"/>
              </a:p>
            </p:txBody>
          </p:sp>
          <p:sp>
            <p:nvSpPr>
              <p:cNvPr id="11" name="Text 9"/>
              <p:cNvSpPr/>
              <p:nvPr>
                <p:custDataLst>
                  <p:tags r:id="rId4"/>
                </p:custDataLst>
              </p:nvPr>
            </p:nvSpPr>
            <p:spPr>
              <a:xfrm>
                <a:off x="1077" y="3126"/>
                <a:ext cx="16229" cy="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第一阶段已打通 MIR → ClassPAG → ClassPTS / ClassCG 的基础流程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602" y="3598"/>
              <a:ext cx="16703" cy="874"/>
              <a:chOff x="602" y="4019"/>
              <a:chExt cx="16703" cy="874"/>
            </a:xfrm>
          </p:grpSpPr>
          <p:sp>
            <p:nvSpPr>
              <p:cNvPr id="12" name="Text 10"/>
              <p:cNvSpPr/>
              <p:nvPr>
                <p:custDataLst>
                  <p:tags r:id="rId5"/>
                </p:custDataLst>
              </p:nvPr>
            </p:nvSpPr>
            <p:spPr>
              <a:xfrm>
                <a:off x="602" y="4240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2000" dirty="0"/>
              </a:p>
            </p:txBody>
          </p:sp>
          <p:sp>
            <p:nvSpPr>
              <p:cNvPr id="13" name="Text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1077" y="4019"/>
                <a:ext cx="16229" cy="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第二阶段目标：在真实测试入口、容器传播、动态类型集合和 cast 风险判断上补强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02" y="4701"/>
              <a:ext cx="16703" cy="874"/>
              <a:chOff x="602" y="4911"/>
              <a:chExt cx="16703" cy="874"/>
            </a:xfrm>
          </p:grpSpPr>
          <p:sp>
            <p:nvSpPr>
              <p:cNvPr id="14" name="Text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602" y="5133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2000" dirty="0"/>
              </a:p>
            </p:txBody>
          </p:sp>
          <p:sp>
            <p:nvSpPr>
              <p:cNvPr id="15" name="Text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1077" y="4911"/>
                <a:ext cx="16229" cy="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分析对象仍然聚焦 rustdsl/classes 下的 class / interface / mixin / container-heavy 程序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602" y="5804"/>
              <a:ext cx="16703" cy="874"/>
              <a:chOff x="602" y="5804"/>
              <a:chExt cx="16703" cy="874"/>
            </a:xfrm>
          </p:grpSpPr>
          <p:sp>
            <p:nvSpPr>
              <p:cNvPr id="16" name="Text 14"/>
              <p:cNvSpPr/>
              <p:nvPr>
                <p:custDataLst>
                  <p:tags r:id="rId9"/>
                </p:custDataLst>
              </p:nvPr>
            </p:nvSpPr>
            <p:spPr>
              <a:xfrm>
                <a:off x="602" y="6026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2000" dirty="0"/>
              </a:p>
            </p:txBody>
          </p:sp>
          <p:sp>
            <p:nvSpPr>
              <p:cNvPr id="17" name="Text 15"/>
              <p:cNvSpPr/>
              <p:nvPr>
                <p:custDataLst>
                  <p:tags r:id="rId10"/>
                </p:custDataLst>
              </p:nvPr>
            </p:nvSpPr>
            <p:spPr>
              <a:xfrm>
                <a:off x="1077" y="5804"/>
                <a:ext cx="16229" cy="87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Noto Sans CJK SC" pitchFamily="34" charset="-120"/>
                  </a:rPr>
                  <a:t>验收口径：能力增强是否落地、全量入口是否稳定、输出产物是否可审计</a:t>
                </a:r>
                <a:endParaRPr lang="en-US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4" name="Text 16"/>
          <p:cNvSpPr/>
          <p:nvPr/>
        </p:nvSpPr>
        <p:spPr>
          <a:xfrm>
            <a:off x="382143" y="5230622"/>
            <a:ext cx="1508760" cy="310896"/>
          </a:xfrm>
          <a:prstGeom prst="rect">
            <a:avLst/>
          </a:prstGeom>
          <a:solidFill>
            <a:srgbClr val="2F5597"/>
          </a:solidFill>
          <a:ln>
            <a:solidFill>
              <a:srgbClr val="2F5597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阶段二核心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2210943" y="5194046"/>
            <a:ext cx="877824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F38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从“类级指针分析基线”推进到“对象流 + 类型流 + Cast 风险判定”的综合分析流程。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第二阶段完成情况概览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443865" y="1334770"/>
            <a:ext cx="10579100" cy="4416425"/>
            <a:chOff x="1267" y="2102"/>
            <a:chExt cx="16660" cy="6955"/>
          </a:xfrm>
        </p:grpSpPr>
        <p:grpSp>
          <p:nvGrpSpPr>
            <p:cNvPr id="31" name="组合 30"/>
            <p:cNvGrpSpPr/>
            <p:nvPr/>
          </p:nvGrpSpPr>
          <p:grpSpPr>
            <a:xfrm>
              <a:off x="1267" y="2102"/>
              <a:ext cx="16660" cy="4522"/>
              <a:chOff x="1267" y="2102"/>
              <a:chExt cx="16660" cy="4522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1267" y="5962"/>
                <a:ext cx="16661" cy="662"/>
                <a:chOff x="1267" y="5962"/>
                <a:chExt cx="16661" cy="662"/>
              </a:xfrm>
            </p:grpSpPr>
            <p:sp>
              <p:nvSpPr>
                <p:cNvPr id="10" name="Text 8"/>
                <p:cNvSpPr/>
                <p:nvPr/>
              </p:nvSpPr>
              <p:spPr>
                <a:xfrm>
                  <a:off x="1267" y="6048"/>
                  <a:ext cx="2376" cy="490"/>
                </a:xfrm>
                <a:prstGeom prst="rect">
                  <a:avLst/>
                </a:prstGeom>
                <a:solidFill>
                  <a:srgbClr val="2F5597"/>
                </a:solidFill>
                <a:ln>
                  <a:solidFill>
                    <a:srgbClr val="2F5597"/>
                  </a:solidFill>
                </a:ln>
              </p:spPr>
              <p:txBody>
                <a:bodyPr wrap="square" lIns="254" tIns="254" rIns="254" bIns="254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类型安全</a:t>
                  </a:r>
                  <a:endParaRPr lang="en-US" sz="1600" dirty="0"/>
                </a:p>
              </p:txBody>
            </p:sp>
            <p:sp>
              <p:nvSpPr>
                <p:cNvPr id="13" name="Text 11"/>
                <p:cNvSpPr/>
                <p:nvPr/>
              </p:nvSpPr>
              <p:spPr>
                <a:xfrm>
                  <a:off x="4104" y="5962"/>
                  <a:ext cx="13824" cy="6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 fontScale="90000"/>
                </a:bodyPr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新增动态类型集合、继承关系图与 Cast Risk Detection，</a:t>
                  </a:r>
                  <a:r>
                    <a:rPr lang="en-US" sz="1900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输出 safe / unsafe 及原因说明。</a:t>
                  </a:r>
                  <a:endParaRPr lang="en-US" sz="1900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30" name="组合 29"/>
              <p:cNvGrpSpPr/>
              <p:nvPr/>
            </p:nvGrpSpPr>
            <p:grpSpPr>
              <a:xfrm>
                <a:off x="1267" y="2102"/>
                <a:ext cx="16660" cy="3226"/>
                <a:chOff x="1267" y="2102"/>
                <a:chExt cx="16660" cy="3226"/>
              </a:xfrm>
            </p:grpSpPr>
            <p:grpSp>
              <p:nvGrpSpPr>
                <p:cNvPr id="26" name="组合 25"/>
                <p:cNvGrpSpPr/>
                <p:nvPr/>
              </p:nvGrpSpPr>
              <p:grpSpPr>
                <a:xfrm>
                  <a:off x="1267" y="4032"/>
                  <a:ext cx="16661" cy="662"/>
                  <a:chOff x="1267" y="4032"/>
                  <a:chExt cx="16661" cy="662"/>
                </a:xfrm>
              </p:grpSpPr>
              <p:sp>
                <p:nvSpPr>
                  <p:cNvPr id="3" name="Text 7"/>
                  <p:cNvSpPr/>
                  <p:nvPr/>
                </p:nvSpPr>
                <p:spPr>
                  <a:xfrm>
                    <a:off x="1267" y="4118"/>
                    <a:ext cx="2376" cy="490"/>
                  </a:xfrm>
                  <a:prstGeom prst="rect">
                    <a:avLst/>
                  </a:prstGeom>
                  <a:solidFill>
                    <a:srgbClr val="2F5597"/>
                  </a:solidFill>
                  <a:ln>
                    <a:solidFill>
                      <a:srgbClr val="2F5597"/>
                    </a:solidFill>
                  </a:ln>
                </p:spPr>
                <p:txBody>
                  <a:bodyPr wrap="square" lIns="254" tIns="254" rIns="254" bIns="254" rtlCol="0" anchor="ctr"/>
                  <a:lstStyle/>
                  <a:p>
                    <a:pPr marL="0" indent="0" algn="ctr">
                      <a:buNone/>
                    </a:pPr>
                    <a:r>
                      <a:rPr lang="en-US" sz="1600" b="1" dirty="0">
                        <a:solidFill>
                          <a:srgbClr val="FFFFFF"/>
                        </a:solidFill>
                        <a:latin typeface="Noto Sans CJK SC" pitchFamily="34" charset="0"/>
                        <a:ea typeface="Noto Sans CJK SC" pitchFamily="34" charset="-122"/>
                        <a:cs typeface="Noto Sans CJK SC" pitchFamily="34" charset="-120"/>
                      </a:rPr>
                      <a:t>精度与语义</a:t>
                    </a:r>
                    <a:endParaRPr lang="en-US" sz="1600" dirty="0"/>
                  </a:p>
                </p:txBody>
              </p:sp>
              <p:sp>
                <p:nvSpPr>
                  <p:cNvPr id="12" name="Text 10"/>
                  <p:cNvSpPr/>
                  <p:nvPr/>
                </p:nvSpPr>
                <p:spPr>
                  <a:xfrm>
                    <a:off x="4104" y="4032"/>
                    <a:ext cx="13824" cy="6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>
                    <a:normAutofit fontScale="90000"/>
                  </a:bodyPr>
                  <a:lstStyle/>
                  <a:p>
                    <a:pPr marL="0" indent="0">
                      <a:buNone/>
                    </a:pPr>
                    <a:r>
                      <a:rPr lang="en-US" sz="1900" dirty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补强 ClassPtr 规范化、Clone/Move/Copy、Option 解包、</a:t>
                    </a:r>
                    <a:r>
                      <a:rPr lang="en-US" sz="19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容器元素摘要</a:t>
                    </a:r>
                    <a:r>
                      <a:rPr lang="en-US" sz="1900" dirty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与</a:t>
                    </a:r>
                    <a:r>
                      <a:rPr lang="en-US" sz="19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迭代</a:t>
                    </a:r>
                    <a:r>
                      <a:rPr lang="en-US" sz="1900" dirty="0">
                        <a:solidFill>
                          <a:srgbClr val="222222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rPr>
                      <a:t>传播。</a:t>
                    </a:r>
                    <a:endParaRPr lang="en-US" sz="1900" dirty="0"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endParaRPr>
                  </a:p>
                </p:txBody>
              </p:sp>
            </p:grpSp>
            <p:grpSp>
              <p:nvGrpSpPr>
                <p:cNvPr id="29" name="组合 28"/>
                <p:cNvGrpSpPr/>
                <p:nvPr/>
              </p:nvGrpSpPr>
              <p:grpSpPr>
                <a:xfrm>
                  <a:off x="1267" y="2102"/>
                  <a:ext cx="16660" cy="1296"/>
                  <a:chOff x="1267" y="2102"/>
                  <a:chExt cx="16660" cy="1296"/>
                </a:xfrm>
              </p:grpSpPr>
              <p:grpSp>
                <p:nvGrpSpPr>
                  <p:cNvPr id="28" name="组合 27"/>
                  <p:cNvGrpSpPr/>
                  <p:nvPr/>
                </p:nvGrpSpPr>
                <p:grpSpPr>
                  <a:xfrm>
                    <a:off x="1267" y="2102"/>
                    <a:ext cx="16661" cy="662"/>
                    <a:chOff x="1267" y="2102"/>
                    <a:chExt cx="16661" cy="662"/>
                  </a:xfrm>
                </p:grpSpPr>
                <p:sp>
                  <p:nvSpPr>
                    <p:cNvPr id="8" name="Text 6"/>
                    <p:cNvSpPr/>
                    <p:nvPr/>
                  </p:nvSpPr>
                  <p:spPr>
                    <a:xfrm>
                      <a:off x="1267" y="2189"/>
                      <a:ext cx="1800" cy="490"/>
                    </a:xfrm>
                    <a:prstGeom prst="rect">
                      <a:avLst/>
                    </a:prstGeom>
                    <a:solidFill>
                      <a:srgbClr val="2F5597"/>
                    </a:solidFill>
                    <a:ln>
                      <a:solidFill>
                        <a:srgbClr val="2F5597"/>
                      </a:solidFill>
                    </a:ln>
                  </p:spPr>
                  <p:txBody>
                    <a:bodyPr wrap="square" lIns="254" tIns="254" rIns="254" bIns="254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稳定性</a:t>
                      </a:r>
                      <a:endParaRPr lang="en-US" sz="1600" dirty="0"/>
                    </a:p>
                  </p:txBody>
                </p:sp>
                <p:sp>
                  <p:nvSpPr>
                    <p:cNvPr id="11" name="Text 9"/>
                    <p:cNvSpPr/>
                    <p:nvPr/>
                  </p:nvSpPr>
                  <p:spPr>
                    <a:xfrm>
                      <a:off x="4104" y="2102"/>
                      <a:ext cx="13824" cy="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 anchor="ctr">
                      <a:normAutofit fontScale="90000"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22222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51 个入口全部成功；vehicle_hierarchy 中第一阶段失败的 7 个 prop_* 入口恢复稳定。</a:t>
                      </a:r>
                      <a:endParaRPr lang="en-US" sz="1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p:txBody>
                </p:sp>
              </p:grpSp>
              <p:sp>
                <p:nvSpPr>
                  <p:cNvPr id="14" name="Shape 12"/>
                  <p:cNvSpPr/>
                  <p:nvPr/>
                </p:nvSpPr>
                <p:spPr>
                  <a:xfrm>
                    <a:off x="1267" y="3398"/>
                    <a:ext cx="16301" cy="0"/>
                  </a:xfrm>
                  <a:prstGeom prst="line">
                    <a:avLst/>
                  </a:prstGeom>
                  <a:noFill/>
                  <a:ln w="10160">
                    <a:solidFill>
                      <a:srgbClr val="D9DCE2"/>
                    </a:solidFill>
                    <a:prstDash val="solid"/>
                  </a:ln>
                </p:spPr>
              </p:sp>
            </p:grpSp>
            <p:sp>
              <p:nvSpPr>
                <p:cNvPr id="15" name="Shape 13"/>
                <p:cNvSpPr/>
                <p:nvPr/>
              </p:nvSpPr>
              <p:spPr>
                <a:xfrm>
                  <a:off x="1267" y="5328"/>
                  <a:ext cx="16301" cy="0"/>
                </a:xfrm>
                <a:prstGeom prst="line">
                  <a:avLst/>
                </a:prstGeom>
                <a:noFill/>
                <a:ln w="10160">
                  <a:solidFill>
                    <a:srgbClr val="D9DCE2"/>
                  </a:solidFill>
                  <a:prstDash val="solid"/>
                </a:ln>
              </p:spPr>
            </p:sp>
          </p:grpSp>
        </p:grpSp>
        <p:grpSp>
          <p:nvGrpSpPr>
            <p:cNvPr id="37" name="组合 36"/>
            <p:cNvGrpSpPr/>
            <p:nvPr/>
          </p:nvGrpSpPr>
          <p:grpSpPr>
            <a:xfrm>
              <a:off x="1512" y="7805"/>
              <a:ext cx="14933" cy="1252"/>
              <a:chOff x="1512" y="7805"/>
              <a:chExt cx="14933" cy="1252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1512" y="7805"/>
                <a:ext cx="1944" cy="1252"/>
                <a:chOff x="1512" y="7805"/>
                <a:chExt cx="1944" cy="1252"/>
              </a:xfrm>
            </p:grpSpPr>
            <p:sp>
              <p:nvSpPr>
                <p:cNvPr id="16" name="Text 14"/>
                <p:cNvSpPr/>
                <p:nvPr/>
              </p:nvSpPr>
              <p:spPr>
                <a:xfrm>
                  <a:off x="1512" y="7805"/>
                  <a:ext cx="1944" cy="6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2F5597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51</a:t>
                  </a:r>
                  <a:endParaRPr lang="en-US" sz="2800" dirty="0"/>
                </a:p>
              </p:txBody>
            </p:sp>
            <p:sp>
              <p:nvSpPr>
                <p:cNvPr id="17" name="Text 15"/>
                <p:cNvSpPr/>
                <p:nvPr/>
              </p:nvSpPr>
              <p:spPr>
                <a:xfrm>
                  <a:off x="1512" y="8597"/>
                  <a:ext cx="1944" cy="4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50" dirty="0">
                      <a:solidFill>
                        <a:srgbClr val="666666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分析入口</a:t>
                  </a:r>
                  <a:endParaRPr lang="en-US" sz="1250" dirty="0"/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4205" y="7805"/>
                <a:ext cx="1944" cy="1252"/>
                <a:chOff x="4205" y="7805"/>
                <a:chExt cx="1944" cy="1252"/>
              </a:xfrm>
            </p:grpSpPr>
            <p:sp>
              <p:nvSpPr>
                <p:cNvPr id="18" name="Text 16"/>
                <p:cNvSpPr/>
                <p:nvPr/>
              </p:nvSpPr>
              <p:spPr>
                <a:xfrm>
                  <a:off x="4205" y="7805"/>
                  <a:ext cx="1944" cy="6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548235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51</a:t>
                  </a:r>
                  <a:endParaRPr lang="en-US" sz="2800" dirty="0"/>
                </a:p>
              </p:txBody>
            </p:sp>
            <p:sp>
              <p:nvSpPr>
                <p:cNvPr id="19" name="Text 17"/>
                <p:cNvSpPr/>
                <p:nvPr/>
              </p:nvSpPr>
              <p:spPr>
                <a:xfrm>
                  <a:off x="4205" y="8597"/>
                  <a:ext cx="1944" cy="4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50" dirty="0">
                      <a:solidFill>
                        <a:srgbClr val="666666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成功入口</a:t>
                  </a:r>
                  <a:endParaRPr lang="en-US" sz="1250" dirty="0"/>
                </a:p>
              </p:txBody>
            </p:sp>
          </p:grpSp>
          <p:grpSp>
            <p:nvGrpSpPr>
              <p:cNvPr id="34" name="组合 33"/>
              <p:cNvGrpSpPr/>
              <p:nvPr/>
            </p:nvGrpSpPr>
            <p:grpSpPr>
              <a:xfrm>
                <a:off x="6912" y="7805"/>
                <a:ext cx="2448" cy="1252"/>
                <a:chOff x="6912" y="7805"/>
                <a:chExt cx="2448" cy="1252"/>
              </a:xfrm>
            </p:grpSpPr>
            <p:sp>
              <p:nvSpPr>
                <p:cNvPr id="20" name="Text 18"/>
                <p:cNvSpPr/>
                <p:nvPr/>
              </p:nvSpPr>
              <p:spPr>
                <a:xfrm>
                  <a:off x="6912" y="7805"/>
                  <a:ext cx="2448" cy="6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C55A11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0</a:t>
                  </a:r>
                  <a:endParaRPr lang="en-US" sz="2800" dirty="0"/>
                </a:p>
              </p:txBody>
            </p:sp>
            <p:sp>
              <p:nvSpPr>
                <p:cNvPr id="21" name="Text 19"/>
                <p:cNvSpPr/>
                <p:nvPr/>
              </p:nvSpPr>
              <p:spPr>
                <a:xfrm>
                  <a:off x="6912" y="8597"/>
                  <a:ext cx="2448" cy="4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50" dirty="0">
                      <a:solidFill>
                        <a:srgbClr val="666666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失败 / 栈溢出</a:t>
                  </a:r>
                  <a:endParaRPr lang="en-US" sz="1250" dirty="0"/>
                </a:p>
              </p:txBody>
            </p:sp>
          </p:grpSp>
          <p:grpSp>
            <p:nvGrpSpPr>
              <p:cNvPr id="35" name="组合 34"/>
              <p:cNvGrpSpPr/>
              <p:nvPr/>
            </p:nvGrpSpPr>
            <p:grpSpPr>
              <a:xfrm>
                <a:off x="10339" y="7805"/>
                <a:ext cx="2160" cy="1252"/>
                <a:chOff x="10339" y="7805"/>
                <a:chExt cx="2160" cy="1252"/>
              </a:xfrm>
            </p:grpSpPr>
            <p:sp>
              <p:nvSpPr>
                <p:cNvPr id="22" name="Text 20"/>
                <p:cNvSpPr/>
                <p:nvPr/>
              </p:nvSpPr>
              <p:spPr>
                <a:xfrm>
                  <a:off x="10339" y="7805"/>
                  <a:ext cx="2160" cy="6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2F5597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253</a:t>
                  </a:r>
                  <a:endParaRPr lang="en-US" sz="2800" dirty="0"/>
                </a:p>
              </p:txBody>
            </p:sp>
            <p:sp>
              <p:nvSpPr>
                <p:cNvPr id="23" name="Text 21"/>
                <p:cNvSpPr/>
                <p:nvPr/>
              </p:nvSpPr>
              <p:spPr>
                <a:xfrm>
                  <a:off x="10339" y="8597"/>
                  <a:ext cx="2160" cy="4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50" dirty="0">
                      <a:solidFill>
                        <a:srgbClr val="666666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cast site</a:t>
                  </a:r>
                  <a:endParaRPr lang="en-US" sz="1250" dirty="0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13421" y="7805"/>
                <a:ext cx="3024" cy="1252"/>
                <a:chOff x="13421" y="7805"/>
                <a:chExt cx="3024" cy="1252"/>
              </a:xfrm>
            </p:grpSpPr>
            <p:sp>
              <p:nvSpPr>
                <p:cNvPr id="24" name="Text 22"/>
                <p:cNvSpPr/>
                <p:nvPr/>
              </p:nvSpPr>
              <p:spPr>
                <a:xfrm>
                  <a:off x="13421" y="7805"/>
                  <a:ext cx="3024" cy="6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2800" b="1" dirty="0">
                      <a:solidFill>
                        <a:srgbClr val="A61C1C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217 / 36</a:t>
                  </a:r>
                  <a:endParaRPr lang="en-US" sz="2800" dirty="0"/>
                </a:p>
              </p:txBody>
            </p:sp>
            <p:sp>
              <p:nvSpPr>
                <p:cNvPr id="25" name="Text 23"/>
                <p:cNvSpPr/>
                <p:nvPr/>
              </p:nvSpPr>
              <p:spPr>
                <a:xfrm>
                  <a:off x="13421" y="8597"/>
                  <a:ext cx="3024" cy="4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 algn="ctr">
                    <a:buNone/>
                  </a:pPr>
                  <a:r>
                    <a:rPr lang="en-US" sz="1250" dirty="0">
                      <a:solidFill>
                        <a:srgbClr val="666666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safe / unsafe</a:t>
                  </a:r>
                  <a:endParaRPr lang="en-US" sz="1250" dirty="0"/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rcpta_arc_v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350" y="889635"/>
            <a:ext cx="9698355" cy="5459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程序输入与处理范围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765" y="1176020"/>
            <a:ext cx="10492105" cy="33851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输入：</a:t>
            </a:r>
            <a:r>
              <a:rPr lang="en-US" altLang="zh-CN"/>
              <a:t>Rust DSL Syntax </a:t>
            </a:r>
            <a:r>
              <a:rPr lang="zh-CN" altLang="en-US"/>
              <a:t>程序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语料：</a:t>
            </a:r>
            <a:r>
              <a:rPr lang="en-US" altLang="zh-CN"/>
              <a:t>rustdsl/classes </a:t>
            </a:r>
            <a:r>
              <a:rPr lang="zh-CN" altLang="en-US"/>
              <a:t>下使用</a:t>
            </a:r>
            <a:r>
              <a:rPr lang="en-US" altLang="zh-CN"/>
              <a:t> class! </a:t>
            </a:r>
            <a:r>
              <a:rPr lang="zh-CN" altLang="en-US"/>
              <a:t>宏、</a:t>
            </a:r>
            <a:r>
              <a:rPr lang="en-US" altLang="zh-CN"/>
              <a:t>CRc</a:t>
            </a:r>
            <a:r>
              <a:rPr lang="zh-CN" altLang="en-US"/>
              <a:t>、继承、接口、</a:t>
            </a:r>
            <a:r>
              <a:rPr lang="en-US" altLang="zh-CN"/>
              <a:t>mixin </a:t>
            </a:r>
            <a:r>
              <a:rPr lang="zh-CN" altLang="en-US"/>
              <a:t>等编写的程序</a:t>
            </a:r>
            <a:endParaRPr lang="zh-CN" altLang="en-US"/>
          </a:p>
          <a:p>
            <a:r>
              <a:rPr lang="zh-CN" altLang="en-US"/>
              <a:t>典型语法与</a:t>
            </a:r>
            <a:r>
              <a:rPr lang="en-US" altLang="zh-CN"/>
              <a:t> Class PAG </a:t>
            </a:r>
            <a:r>
              <a:rPr lang="zh-CN" altLang="en-US"/>
              <a:t>边：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- ClassName::new(...) </a:t>
            </a:r>
            <a:r>
              <a:rPr lang="en-US" altLang="en-US"/>
              <a:t>→</a:t>
            </a:r>
            <a:r>
              <a:rPr lang="en-US" altLang="zh-CN"/>
              <a:t> Alloc</a:t>
            </a:r>
            <a:endParaRPr lang="en-US" altLang="zh-CN"/>
          </a:p>
          <a:p>
            <a:r>
              <a:rPr lang="en-US" altLang="zh-CN"/>
              <a:t>  - let x = y; / x.clone() </a:t>
            </a:r>
            <a:r>
              <a:rPr lang="en-US" altLang="en-US"/>
              <a:t>→</a:t>
            </a:r>
            <a:r>
              <a:rPr lang="en-US" altLang="zh-CN"/>
              <a:t> Assign</a:t>
            </a:r>
            <a:endParaRPr lang="en-US" altLang="zh-CN"/>
          </a:p>
          <a:p>
            <a:r>
              <a:rPr lang="en-US" altLang="zh-CN"/>
              <a:t>  - into_superclass / try_into_subtype / cast_mixin </a:t>
            </a:r>
            <a:r>
              <a:rPr lang="en-US" altLang="en-US"/>
              <a:t>→</a:t>
            </a:r>
            <a:r>
              <a:rPr lang="en-US" altLang="zh-CN"/>
              <a:t> Cast</a:t>
            </a:r>
            <a:endParaRPr lang="en-US" altLang="zh-CN"/>
          </a:p>
          <a:p>
            <a:r>
              <a:rPr lang="en-US" altLang="zh-CN"/>
              <a:t>  - get_foo() / set_foo(v) </a:t>
            </a:r>
            <a:r>
              <a:rPr lang="en-US" altLang="en-US"/>
              <a:t>→</a:t>
            </a:r>
            <a:r>
              <a:rPr lang="en-US" altLang="zh-CN"/>
              <a:t> Load / Store</a:t>
            </a:r>
            <a:endParaRPr lang="en-US" altLang="zh-CN"/>
          </a:p>
          <a:p>
            <a:r>
              <a:rPr lang="en-US" altLang="zh-CN"/>
              <a:t>  - receiver.method(args) </a:t>
            </a:r>
            <a:r>
              <a:rPr lang="en-US" altLang="en-US"/>
              <a:t>→</a:t>
            </a:r>
            <a:r>
              <a:rPr lang="en-US" altLang="zh-CN"/>
              <a:t> CallArg / CallRet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测试套件：</a:t>
            </a:r>
            <a:r>
              <a:rPr lang="en-US" altLang="zh-CN"/>
              <a:t>animal_hierarchy</a:t>
            </a:r>
            <a:r>
              <a:rPr lang="zh-CN" altLang="en-US"/>
              <a:t>、</a:t>
            </a:r>
            <a:r>
              <a:rPr lang="en-US" altLang="zh-CN"/>
              <a:t>shape_hierarchy</a:t>
            </a:r>
            <a:r>
              <a:rPr lang="zh-CN" altLang="en-US"/>
              <a:t>、</a:t>
            </a:r>
            <a:r>
              <a:rPr lang="en-US" altLang="zh-CN"/>
              <a:t>vehicle_hierarchy</a:t>
            </a:r>
            <a:r>
              <a:rPr lang="zh-CN" altLang="en-US"/>
              <a:t>、</a:t>
            </a:r>
            <a:r>
              <a:rPr lang="en-US" altLang="zh-CN"/>
              <a:t>rcpta_full_hierarchy</a:t>
            </a:r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51765" y="4700905"/>
            <a:ext cx="10442448" cy="519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典型语义操作：类实例化、赋值/Clone、上转/下转、Mixin、接口、多态方法调用、字段读写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1765" y="5360035"/>
            <a:ext cx="10442448" cy="519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第二阶段新增重点：property test wrapper / closure 下钻，容器元素传播，cast site 源码级判定</a:t>
            </a:r>
            <a:endParaRPr lang="en-US" sz="1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指针分析精度优化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412115" y="1610360"/>
            <a:ext cx="10770235" cy="3804285"/>
            <a:chOff x="1325" y="2045"/>
            <a:chExt cx="16270" cy="4159"/>
          </a:xfrm>
        </p:grpSpPr>
        <p:grpSp>
          <p:nvGrpSpPr>
            <p:cNvPr id="20" name="组合 19"/>
            <p:cNvGrpSpPr/>
            <p:nvPr/>
          </p:nvGrpSpPr>
          <p:grpSpPr>
            <a:xfrm>
              <a:off x="1325" y="2045"/>
              <a:ext cx="16271" cy="818"/>
              <a:chOff x="1325" y="2045"/>
              <a:chExt cx="16271" cy="818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325" y="2238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1800" y="2045"/>
                <a:ext cx="15797" cy="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围绕 animal / shape / vehicle / rcpta_full 四组测试持续做指针分析人工验证</a:t>
                </a:r>
                <a:endParaRPr lang="en-US" sz="2400" dirty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1325" y="2880"/>
              <a:ext cx="16271" cy="818"/>
              <a:chOff x="1325" y="2880"/>
              <a:chExt cx="16271" cy="818"/>
            </a:xfrm>
          </p:grpSpPr>
          <p:sp>
            <p:nvSpPr>
              <p:cNvPr id="10" name="Text 8"/>
              <p:cNvSpPr/>
              <p:nvPr/>
            </p:nvSpPr>
            <p:spPr>
              <a:xfrm>
                <a:off x="1325" y="3073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1800" y="2880"/>
                <a:ext cx="15797" cy="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逐个 entry 检查分析结果，定位造成空结果、类型不准和噪声输出的问题</a:t>
                </a:r>
                <a:endParaRPr lang="en-US" sz="2400" dirty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2" name="组合 21"/>
            <p:cNvGrpSpPr/>
            <p:nvPr/>
          </p:nvGrpSpPr>
          <p:grpSpPr>
            <a:xfrm>
              <a:off x="1325" y="3715"/>
              <a:ext cx="16271" cy="818"/>
              <a:chOff x="1325" y="3715"/>
              <a:chExt cx="16271" cy="818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1325" y="3908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800" y="3715"/>
                <a:ext cx="15797" cy="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修复多态集合、mixin 转换、Option 解包、Clone/Move/Copy、调用实参传播等关键路径</a:t>
                </a:r>
                <a:endParaRPr lang="en-US" sz="2400" dirty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1325" y="4550"/>
              <a:ext cx="16271" cy="818"/>
              <a:chOff x="1325" y="4550"/>
              <a:chExt cx="16271" cy="818"/>
            </a:xfrm>
          </p:grpSpPr>
          <p:sp>
            <p:nvSpPr>
              <p:cNvPr id="14" name="Text 12"/>
              <p:cNvSpPr/>
              <p:nvPr/>
            </p:nvSpPr>
            <p:spPr>
              <a:xfrm>
                <a:off x="1325" y="4744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800" y="4550"/>
                <a:ext cx="15797" cy="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Noto Sans CJK SC" pitchFamily="34" charset="-120"/>
                  </a:rPr>
                  <a:t>对内部传播链路做识别和过滤，保留真正和源码语义相关的结果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1325" y="5386"/>
              <a:ext cx="16271" cy="818"/>
              <a:chOff x="1325" y="5386"/>
              <a:chExt cx="16271" cy="818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1325" y="5579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800" y="5386"/>
                <a:ext cx="15797" cy="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后期重点批次中，主路径分析结果已达到 100% 类型完整</a:t>
                </a:r>
                <a:endParaRPr lang="en-US" sz="24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容器与迭代器语义增强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34645" y="1285240"/>
            <a:ext cx="105822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2000" dirty="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核心目标：让 Vec&lt;CRc&lt;T&gt;&gt;、iter / filter / map / collect、索引访问中的类对象继续回到 ClassPTS 和 ClassCG。</a:t>
            </a:r>
            <a:endParaRPr lang="en-US" altLang="en-US" sz="2000" dirty="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334645" y="2513965"/>
            <a:ext cx="10386695" cy="762000"/>
            <a:chOff x="1368" y="3744"/>
            <a:chExt cx="16085" cy="1180"/>
          </a:xfrm>
        </p:grpSpPr>
        <p:sp>
          <p:nvSpPr>
            <p:cNvPr id="9" name="Text 7"/>
            <p:cNvSpPr/>
            <p:nvPr/>
          </p:nvSpPr>
          <p:spPr>
            <a:xfrm>
              <a:off x="1368" y="3744"/>
              <a:ext cx="2376" cy="547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2F559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Vec.$elem</a:t>
              </a:r>
              <a:endParaRPr lang="en-US" sz="15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368" y="4406"/>
              <a:ext cx="2376" cy="518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60" dirty="0">
                  <a:solidFill>
                    <a:srgbClr val="666666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容器元素摘要</a:t>
              </a:r>
              <a:endParaRPr lang="en-US" sz="126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845" y="4018"/>
              <a:ext cx="734" cy="0"/>
            </a:xfrm>
            <a:prstGeom prst="line">
              <a:avLst/>
            </a:prstGeom>
            <a:noFill/>
            <a:ln w="13970">
              <a:solidFill>
                <a:srgbClr val="666666"/>
              </a:solidFill>
              <a:prstDash val="solid"/>
              <a:tailEnd type="triangle"/>
            </a:ln>
          </p:spPr>
        </p:sp>
        <p:sp>
          <p:nvSpPr>
            <p:cNvPr id="12" name="Text 10"/>
            <p:cNvSpPr/>
            <p:nvPr/>
          </p:nvSpPr>
          <p:spPr>
            <a:xfrm>
              <a:off x="4795" y="3744"/>
              <a:ext cx="2376" cy="547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2F559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iter item</a:t>
              </a:r>
              <a:endParaRPr lang="en-US" sz="15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4795" y="4406"/>
              <a:ext cx="2376" cy="518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60" dirty="0">
                  <a:solidFill>
                    <a:srgbClr val="666666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迭代元素桥接</a:t>
              </a:r>
              <a:endParaRPr lang="en-US" sz="126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272" y="4018"/>
              <a:ext cx="734" cy="0"/>
            </a:xfrm>
            <a:prstGeom prst="line">
              <a:avLst/>
            </a:prstGeom>
            <a:noFill/>
            <a:ln w="13970">
              <a:solidFill>
                <a:srgbClr val="666666"/>
              </a:solidFill>
              <a:prstDash val="solid"/>
              <a:tailEnd type="triangle"/>
            </a:ln>
          </p:spPr>
        </p:sp>
        <p:sp>
          <p:nvSpPr>
            <p:cNvPr id="15" name="Text 13"/>
            <p:cNvSpPr/>
            <p:nvPr/>
          </p:nvSpPr>
          <p:spPr>
            <a:xfrm>
              <a:off x="8222" y="3744"/>
              <a:ext cx="2376" cy="547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2F559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filter/map</a:t>
              </a:r>
              <a:endParaRPr lang="en-US" sz="15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8222" y="4406"/>
              <a:ext cx="2376" cy="518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60" dirty="0">
                  <a:solidFill>
                    <a:srgbClr val="666666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保留类对象流</a:t>
              </a:r>
              <a:endParaRPr lang="en-US" sz="126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10699" y="4018"/>
              <a:ext cx="734" cy="0"/>
            </a:xfrm>
            <a:prstGeom prst="line">
              <a:avLst/>
            </a:prstGeom>
            <a:noFill/>
            <a:ln w="13970">
              <a:solidFill>
                <a:srgbClr val="666666"/>
              </a:solidFill>
              <a:prstDash val="solid"/>
              <a:tailEnd type="triangle"/>
            </a:ln>
          </p:spPr>
        </p:sp>
        <p:sp>
          <p:nvSpPr>
            <p:cNvPr id="18" name="Text 16"/>
            <p:cNvSpPr/>
            <p:nvPr/>
          </p:nvSpPr>
          <p:spPr>
            <a:xfrm>
              <a:off x="11650" y="3744"/>
              <a:ext cx="2376" cy="547"/>
            </a:xfrm>
            <a:prstGeom prst="rect">
              <a:avLst/>
            </a:prstGeom>
            <a:solidFill>
              <a:srgbClr val="EAF1F8"/>
            </a:solidFill>
            <a:ln w="12700">
              <a:solidFill>
                <a:srgbClr val="2F5597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2F5597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collect.$elem</a:t>
              </a:r>
              <a:endParaRPr lang="en-US" sz="15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1650" y="4406"/>
              <a:ext cx="2376" cy="518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60" dirty="0">
                  <a:solidFill>
                    <a:srgbClr val="666666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回写集合结果</a:t>
              </a:r>
              <a:endParaRPr lang="en-US" sz="126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14126" y="4018"/>
              <a:ext cx="734" cy="0"/>
            </a:xfrm>
            <a:prstGeom prst="line">
              <a:avLst/>
            </a:prstGeom>
            <a:noFill/>
            <a:ln w="13970">
              <a:solidFill>
                <a:srgbClr val="666666"/>
              </a:solidFill>
              <a:prstDash val="solid"/>
              <a:tailEnd type="triangle"/>
            </a:ln>
          </p:spPr>
        </p:sp>
        <p:sp>
          <p:nvSpPr>
            <p:cNvPr id="21" name="Text 19"/>
            <p:cNvSpPr/>
            <p:nvPr/>
          </p:nvSpPr>
          <p:spPr>
            <a:xfrm>
              <a:off x="15077" y="3744"/>
              <a:ext cx="2376" cy="547"/>
            </a:xfrm>
            <a:prstGeom prst="rect">
              <a:avLst/>
            </a:prstGeom>
            <a:solidFill>
              <a:srgbClr val="2F5597"/>
            </a:solidFill>
            <a:ln w="12700">
              <a:solidFill>
                <a:srgbClr val="2F5597"/>
              </a:solidFill>
            </a:ln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5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receiver</a:t>
              </a:r>
              <a:endParaRPr lang="en-US" sz="15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5077" y="4406"/>
              <a:ext cx="2376" cy="518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60" dirty="0">
                  <a:solidFill>
                    <a:srgbClr val="666666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支撑多态调用</a:t>
              </a:r>
              <a:endParaRPr lang="en-US" sz="1260" dirty="0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334645" y="3797935"/>
            <a:ext cx="10057130" cy="1417320"/>
            <a:chOff x="1512" y="6365"/>
            <a:chExt cx="15838" cy="2232"/>
          </a:xfrm>
        </p:grpSpPr>
        <p:grpSp>
          <p:nvGrpSpPr>
            <p:cNvPr id="30" name="组合 29"/>
            <p:cNvGrpSpPr/>
            <p:nvPr/>
          </p:nvGrpSpPr>
          <p:grpSpPr>
            <a:xfrm>
              <a:off x="1512" y="6365"/>
              <a:ext cx="15839" cy="734"/>
              <a:chOff x="1512" y="6365"/>
              <a:chExt cx="15839" cy="734"/>
            </a:xfrm>
          </p:grpSpPr>
          <p:sp>
            <p:nvSpPr>
              <p:cNvPr id="23" name="Text 21"/>
              <p:cNvSpPr/>
              <p:nvPr/>
            </p:nvSpPr>
            <p:spPr>
              <a:xfrm>
                <a:off x="1512" y="6516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5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85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1987" y="6365"/>
                <a:ext cx="15365" cy="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85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对类元素建摘要节点，打通容器内部元素到后续方法形参 / receiver 的传播路径</a:t>
                </a:r>
                <a:endParaRPr lang="en-US" sz="1850" dirty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1" name="组合 30"/>
            <p:cNvGrpSpPr/>
            <p:nvPr/>
          </p:nvGrpSpPr>
          <p:grpSpPr>
            <a:xfrm>
              <a:off x="1512" y="7114"/>
              <a:ext cx="15839" cy="734"/>
              <a:chOff x="1512" y="7114"/>
              <a:chExt cx="15839" cy="734"/>
            </a:xfrm>
          </p:grpSpPr>
          <p:sp>
            <p:nvSpPr>
              <p:cNvPr id="25" name="Text 23"/>
              <p:cNvSpPr/>
              <p:nvPr/>
            </p:nvSpPr>
            <p:spPr>
              <a:xfrm>
                <a:off x="1512" y="7265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5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85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1987" y="7114"/>
                <a:ext cx="15365" cy="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85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 String、bool、数值等非类结果不进入 ClassPAG，避免污染类级指向集</a:t>
                </a:r>
                <a:endParaRPr lang="en-US" sz="185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512" y="7863"/>
              <a:ext cx="15839" cy="734"/>
              <a:chOff x="1512" y="7862"/>
              <a:chExt cx="15839" cy="734"/>
            </a:xfrm>
          </p:grpSpPr>
          <p:sp>
            <p:nvSpPr>
              <p:cNvPr id="27" name="Text 25"/>
              <p:cNvSpPr/>
              <p:nvPr/>
            </p:nvSpPr>
            <p:spPr>
              <a:xfrm>
                <a:off x="1512" y="8013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5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85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1987" y="7862"/>
                <a:ext cx="15365" cy="7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85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默认隐藏 ::ret.$elem、::ret.deref.index 等内部 synthetic 指针，使输出更适合人工审计</a:t>
                </a:r>
                <a:endParaRPr lang="en-US" sz="185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动态类型集合与继承关系计算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9" name="组合 28"/>
          <p:cNvGrpSpPr/>
          <p:nvPr>
            <p:custDataLst>
              <p:tags r:id="rId1"/>
            </p:custDataLst>
          </p:nvPr>
        </p:nvGrpSpPr>
        <p:grpSpPr>
          <a:xfrm>
            <a:off x="311150" y="1517650"/>
            <a:ext cx="10560050" cy="3154045"/>
            <a:chOff x="1325" y="2045"/>
            <a:chExt cx="16630" cy="4967"/>
          </a:xfrm>
        </p:grpSpPr>
        <p:grpSp>
          <p:nvGrpSpPr>
            <p:cNvPr id="28" name="组合 27"/>
            <p:cNvGrpSpPr/>
            <p:nvPr>
              <p:custDataLst>
                <p:tags r:id="rId2"/>
              </p:custDataLst>
            </p:nvPr>
          </p:nvGrpSpPr>
          <p:grpSpPr>
            <a:xfrm>
              <a:off x="1325" y="2045"/>
              <a:ext cx="16630" cy="3323"/>
              <a:chOff x="1325" y="2045"/>
              <a:chExt cx="16630" cy="3323"/>
            </a:xfrm>
          </p:grpSpPr>
          <p:grpSp>
            <p:nvGrpSpPr>
              <p:cNvPr id="23" name="组合 22"/>
              <p:cNvGrpSpPr/>
              <p:nvPr>
                <p:custDataLst>
                  <p:tags r:id="rId3"/>
                </p:custDataLst>
              </p:nvPr>
            </p:nvGrpSpPr>
            <p:grpSpPr>
              <a:xfrm>
                <a:off x="1325" y="2045"/>
                <a:ext cx="16631" cy="818"/>
                <a:chOff x="1325" y="2045"/>
                <a:chExt cx="16631" cy="818"/>
              </a:xfrm>
            </p:grpSpPr>
            <p:sp>
              <p:nvSpPr>
                <p:cNvPr id="8" name="Text 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325" y="2238"/>
                  <a:ext cx="317" cy="4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•</a:t>
                  </a:r>
                  <a:endParaRPr lang="en-US" sz="1900" dirty="0"/>
                </a:p>
              </p:txBody>
            </p:sp>
            <p:sp>
              <p:nvSpPr>
                <p:cNvPr id="9" name="Text 7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1800" y="2045"/>
                  <a:ext cx="16157" cy="81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动态类型集合：从 ClassPTS 中读取指针可能指向的 ClassObj，再投影为对象的具体类类型</a:t>
                  </a:r>
                  <a:endPara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24" name="组合 23"/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1325" y="2880"/>
                <a:ext cx="16631" cy="818"/>
                <a:chOff x="1325" y="2880"/>
                <a:chExt cx="16631" cy="818"/>
              </a:xfrm>
            </p:grpSpPr>
            <p:sp>
              <p:nvSpPr>
                <p:cNvPr id="10" name="Text 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325" y="3073"/>
                  <a:ext cx="317" cy="4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•</a:t>
                  </a:r>
                  <a:endParaRPr lang="en-US" sz="1900" dirty="0"/>
                </a:p>
              </p:txBody>
            </p:sp>
            <p:sp>
              <p:nvSpPr>
                <p:cNvPr id="11" name="Text 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800" y="2880"/>
                  <a:ext cx="16157" cy="81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继承关系图：从 type graph 中提取 extends、implements、with、mixin on 等关系</a:t>
                  </a:r>
                  <a:endParaRPr lang="en-US" sz="19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25" name="组合 24"/>
              <p:cNvGrpSpPr/>
              <p:nvPr>
                <p:custDataLst>
                  <p:tags r:id="rId9"/>
                </p:custDataLst>
              </p:nvPr>
            </p:nvGrpSpPr>
            <p:grpSpPr>
              <a:xfrm>
                <a:off x="1325" y="3715"/>
                <a:ext cx="16631" cy="818"/>
                <a:chOff x="1325" y="3715"/>
                <a:chExt cx="16631" cy="818"/>
              </a:xfrm>
            </p:grpSpPr>
            <p:sp>
              <p:nvSpPr>
                <p:cNvPr id="12" name="Text 10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1325" y="3908"/>
                  <a:ext cx="317" cy="4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•</a:t>
                  </a:r>
                  <a:endParaRPr lang="en-US" sz="1900" dirty="0"/>
                </a:p>
              </p:txBody>
            </p:sp>
            <p:sp>
              <p:nvSpPr>
                <p:cNvPr id="13" name="Text 11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800" y="3715"/>
                  <a:ext cx="16157" cy="81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对每个 entry 结合已注册的类型节点，恢复与当前源码语义相关的类层次结构</a:t>
                  </a:r>
                  <a:endPara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grpSp>
            <p:nvGrpSpPr>
              <p:cNvPr id="26" name="组合 25"/>
              <p:cNvGrpSpPr/>
              <p:nvPr>
                <p:custDataLst>
                  <p:tags r:id="rId12"/>
                </p:custDataLst>
              </p:nvPr>
            </p:nvGrpSpPr>
            <p:grpSpPr>
              <a:xfrm>
                <a:off x="1325" y="4550"/>
                <a:ext cx="16631" cy="818"/>
                <a:chOff x="1325" y="4550"/>
                <a:chExt cx="16631" cy="818"/>
              </a:xfrm>
            </p:grpSpPr>
            <p:sp>
              <p:nvSpPr>
                <p:cNvPr id="14" name="Text 12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325" y="4744"/>
                  <a:ext cx="317" cy="4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•</a:t>
                  </a:r>
                  <a:endParaRPr lang="en-US" sz="1900" dirty="0"/>
                </a:p>
              </p:txBody>
            </p:sp>
            <p:sp>
              <p:nvSpPr>
                <p:cNvPr id="15" name="Text 13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1800" y="4550"/>
                  <a:ext cx="16157" cy="81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结果用于解释 receiver 可能类型、接口多态调用、下转型与 mixin 转换是否安全</a:t>
                  </a:r>
                  <a:endPara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27" name="组合 26"/>
            <p:cNvGrpSpPr/>
            <p:nvPr/>
          </p:nvGrpSpPr>
          <p:grpSpPr>
            <a:xfrm>
              <a:off x="1512" y="6408"/>
              <a:ext cx="16272" cy="604"/>
              <a:chOff x="1512" y="6408"/>
              <a:chExt cx="16272" cy="604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1512" y="6408"/>
                <a:ext cx="2304" cy="605"/>
              </a:xfrm>
              <a:prstGeom prst="rect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ClassPTS</a:t>
                </a:r>
                <a:endParaRPr lang="en-US" sz="1600" dirty="0"/>
              </a:p>
            </p:txBody>
          </p:sp>
          <p:sp>
            <p:nvSpPr>
              <p:cNvPr id="17" name="Shape 15"/>
              <p:cNvSpPr/>
              <p:nvPr/>
            </p:nvSpPr>
            <p:spPr>
              <a:xfrm>
                <a:off x="4003" y="6710"/>
                <a:ext cx="1253" cy="0"/>
              </a:xfrm>
              <a:prstGeom prst="line">
                <a:avLst/>
              </a:prstGeom>
              <a:noFill/>
              <a:ln w="16510">
                <a:solidFill>
                  <a:srgbClr val="666666"/>
                </a:solidFill>
                <a:prstDash val="solid"/>
                <a:tailEnd type="triangle"/>
              </a:ln>
            </p:spPr>
          </p:sp>
          <p:sp>
            <p:nvSpPr>
              <p:cNvPr id="18" name="Text 16"/>
              <p:cNvSpPr/>
              <p:nvPr/>
            </p:nvSpPr>
            <p:spPr>
              <a:xfrm>
                <a:off x="5400" y="6408"/>
                <a:ext cx="2880" cy="605"/>
              </a:xfrm>
              <a:prstGeom prst="rect">
                <a:avLst/>
              </a:prstGeom>
              <a:solidFill>
                <a:srgbClr val="EAF1F8"/>
              </a:solidFill>
              <a:ln>
                <a:solidFill>
                  <a:srgbClr val="2F5597"/>
                </a:solidFill>
              </a:ln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2F5597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动态类型集合</a:t>
                </a:r>
                <a:endParaRPr lang="en-US" sz="1600" dirty="0"/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8496" y="6710"/>
                <a:ext cx="1267" cy="0"/>
              </a:xfrm>
              <a:prstGeom prst="line">
                <a:avLst/>
              </a:prstGeom>
              <a:noFill/>
              <a:ln w="16510">
                <a:solidFill>
                  <a:srgbClr val="666666"/>
                </a:solidFill>
                <a:prstDash val="solid"/>
                <a:tailEnd type="triangle"/>
              </a:ln>
            </p:spPr>
          </p:sp>
          <p:sp>
            <p:nvSpPr>
              <p:cNvPr id="20" name="Text 18"/>
              <p:cNvSpPr/>
              <p:nvPr/>
            </p:nvSpPr>
            <p:spPr>
              <a:xfrm>
                <a:off x="9936" y="6408"/>
                <a:ext cx="4176" cy="605"/>
              </a:xfrm>
              <a:prstGeom prst="rect">
                <a:avLst/>
              </a:prstGeom>
              <a:solidFill>
                <a:srgbClr val="EAF1F8"/>
              </a:solidFill>
              <a:ln>
                <a:solidFill>
                  <a:srgbClr val="2F5597"/>
                </a:solidFill>
              </a:ln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2F5597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继承 / 接口 / Mixin 关系</a:t>
                </a:r>
                <a:endParaRPr lang="en-US" sz="1600" dirty="0"/>
              </a:p>
            </p:txBody>
          </p:sp>
          <p:sp>
            <p:nvSpPr>
              <p:cNvPr id="21" name="Shape 19"/>
              <p:cNvSpPr/>
              <p:nvPr/>
            </p:nvSpPr>
            <p:spPr>
              <a:xfrm>
                <a:off x="14328" y="6710"/>
                <a:ext cx="1253" cy="0"/>
              </a:xfrm>
              <a:prstGeom prst="line">
                <a:avLst/>
              </a:prstGeom>
              <a:noFill/>
              <a:ln w="16510">
                <a:solidFill>
                  <a:srgbClr val="666666"/>
                </a:solidFill>
                <a:prstDash val="solid"/>
                <a:tailEnd type="triangle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15768" y="6408"/>
                <a:ext cx="2016" cy="605"/>
              </a:xfrm>
              <a:prstGeom prst="rect">
                <a:avLst/>
              </a:prstGeom>
              <a:solidFill>
                <a:srgbClr val="C55A11"/>
              </a:solidFill>
              <a:ln>
                <a:solidFill>
                  <a:srgbClr val="C55A11"/>
                </a:solidFill>
              </a:ln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Cast 判定</a:t>
                </a:r>
                <a:endParaRPr lang="en-US" sz="1600" dirty="0"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类型转换安全性预测与输出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318135" y="1298575"/>
            <a:ext cx="10560050" cy="2504440"/>
            <a:chOff x="1325" y="2045"/>
            <a:chExt cx="16630" cy="3944"/>
          </a:xfrm>
        </p:grpSpPr>
        <p:grpSp>
          <p:nvGrpSpPr>
            <p:cNvPr id="31" name="组合 30"/>
            <p:cNvGrpSpPr/>
            <p:nvPr/>
          </p:nvGrpSpPr>
          <p:grpSpPr>
            <a:xfrm>
              <a:off x="1325" y="2045"/>
              <a:ext cx="16631" cy="776"/>
              <a:chOff x="1325" y="2045"/>
              <a:chExt cx="16631" cy="776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325" y="2217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1800" y="2045"/>
                <a:ext cx="16157" cy="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输入：cast site、pre-cast ClassPTS、动态类型集合、继承/接口/mixin 关系图</a:t>
                </a:r>
                <a:endParaRPr lang="en-US" sz="19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325" y="2837"/>
              <a:ext cx="16631" cy="776"/>
              <a:chOff x="1325" y="2837"/>
              <a:chExt cx="16631" cy="776"/>
            </a:xfrm>
          </p:grpSpPr>
          <p:sp>
            <p:nvSpPr>
              <p:cNvPr id="10" name="Text 8"/>
              <p:cNvSpPr/>
              <p:nvPr/>
            </p:nvSpPr>
            <p:spPr>
              <a:xfrm>
                <a:off x="1325" y="3009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1800" y="2837"/>
                <a:ext cx="16157" cy="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普通类目标：检查源对象动态类型是否满足目标类的 extends* 关系</a:t>
                </a:r>
                <a:endParaRPr lang="en-US" sz="19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325" y="3629"/>
              <a:ext cx="16631" cy="776"/>
              <a:chOff x="1325" y="3629"/>
              <a:chExt cx="16631" cy="776"/>
            </a:xfrm>
          </p:grpSpPr>
          <p:sp>
            <p:nvSpPr>
              <p:cNvPr id="12" name="Text 10"/>
              <p:cNvSpPr/>
              <p:nvPr/>
            </p:nvSpPr>
            <p:spPr>
              <a:xfrm>
                <a:off x="1325" y="3801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800" y="3629"/>
                <a:ext cx="16157" cy="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接口目标：检查源对象类型是否实现目标 interface</a:t>
                </a:r>
                <a:endParaRPr lang="en-US" sz="19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1325" y="4421"/>
              <a:ext cx="16631" cy="776"/>
              <a:chOff x="1325" y="4421"/>
              <a:chExt cx="16631" cy="776"/>
            </a:xfrm>
          </p:grpSpPr>
          <p:sp>
            <p:nvSpPr>
              <p:cNvPr id="14" name="Text 12"/>
              <p:cNvSpPr/>
              <p:nvPr/>
            </p:nvSpPr>
            <p:spPr>
              <a:xfrm>
                <a:off x="1325" y="4593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800" y="4421"/>
                <a:ext cx="16157" cy="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Mixin 目标：检查 with / mixin on 关系是否支持当前转换</a:t>
                </a:r>
                <a:endParaRPr lang="en-US" sz="19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35" name="组合 34"/>
            <p:cNvGrpSpPr/>
            <p:nvPr/>
          </p:nvGrpSpPr>
          <p:grpSpPr>
            <a:xfrm>
              <a:off x="1325" y="5213"/>
              <a:ext cx="16631" cy="776"/>
              <a:chOff x="1325" y="5213"/>
              <a:chExt cx="16631" cy="776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1325" y="5385"/>
                <a:ext cx="317" cy="43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•</a:t>
                </a:r>
                <a:endParaRPr lang="en-US" sz="19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800" y="5213"/>
                <a:ext cx="16157" cy="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输出：cast_safety.log 中记录 safe / unsafe / must-unsafe 以及具体原因说明</a:t>
                </a:r>
                <a:endParaRPr lang="en-US" sz="19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619760" y="4224655"/>
            <a:ext cx="3840480" cy="1609090"/>
            <a:chOff x="1800" y="6653"/>
            <a:chExt cx="6048" cy="2534"/>
          </a:xfrm>
        </p:grpSpPr>
        <p:sp>
          <p:nvSpPr>
            <p:cNvPr id="18" name="Text 16"/>
            <p:cNvSpPr/>
            <p:nvPr/>
          </p:nvSpPr>
          <p:spPr>
            <a:xfrm>
              <a:off x="1800" y="6653"/>
              <a:ext cx="3672" cy="422"/>
            </a:xfrm>
            <a:prstGeom prst="rect">
              <a:avLst/>
            </a:prstGeom>
            <a:solidFill>
              <a:srgbClr val="2F5597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统计项</a:t>
              </a:r>
              <a:endParaRPr lang="en-US" sz="128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472" y="6653"/>
              <a:ext cx="2376" cy="422"/>
            </a:xfrm>
            <a:prstGeom prst="rect">
              <a:avLst/>
            </a:prstGeom>
            <a:solidFill>
              <a:srgbClr val="2F5597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b="1" dirty="0">
                  <a:solidFill>
                    <a:srgbClr val="FFFFFF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数量</a:t>
              </a:r>
              <a:endParaRPr lang="en-US" sz="128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1800" y="7075"/>
              <a:ext cx="3672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源码级 cast site</a:t>
              </a:r>
              <a:endParaRPr lang="en-US" sz="128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472" y="7075"/>
              <a:ext cx="2376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253</a:t>
              </a:r>
              <a:endParaRPr lang="en-US" sz="128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800" y="7498"/>
              <a:ext cx="3672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safe</a:t>
              </a:r>
              <a:endParaRPr lang="en-US" sz="128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472" y="7498"/>
              <a:ext cx="2376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217</a:t>
              </a:r>
              <a:endParaRPr lang="en-US" sz="128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1800" y="7920"/>
              <a:ext cx="3672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unsafe</a:t>
              </a:r>
              <a:endParaRPr lang="en-US" sz="128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472" y="7920"/>
              <a:ext cx="2376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36</a:t>
              </a:r>
              <a:endParaRPr lang="en-US" sz="128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800" y="8342"/>
              <a:ext cx="3672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must-unsafe</a:t>
              </a:r>
              <a:endParaRPr lang="en-US" sz="128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5472" y="8342"/>
              <a:ext cx="2376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18</a:t>
              </a:r>
              <a:endParaRPr lang="en-US" sz="128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1800" y="8765"/>
              <a:ext cx="3672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边界不确定</a:t>
              </a:r>
              <a:endParaRPr lang="en-US" sz="128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5472" y="8765"/>
              <a:ext cx="2376" cy="422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CE2"/>
              </a:solidFill>
            </a:ln>
          </p:spPr>
          <p:txBody>
            <a:bodyPr wrap="square" lIns="381" tIns="381" rIns="381" bIns="381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280" dirty="0">
                  <a:solidFill>
                    <a:srgbClr val="222222"/>
                  </a:solidFill>
                  <a:latin typeface="Noto Sans CJK SC" pitchFamily="34" charset="0"/>
                  <a:ea typeface="Noto Sans CJK SC" pitchFamily="34" charset="-122"/>
                  <a:cs typeface="Noto Sans CJK SC" pitchFamily="34" charset="-120"/>
                </a:rPr>
                <a:t>0</a:t>
              </a:r>
              <a:endParaRPr lang="en-US" sz="1280" dirty="0"/>
            </a:p>
          </p:txBody>
        </p:sp>
      </p:grpSp>
      <p:sp>
        <p:nvSpPr>
          <p:cNvPr id="30" name="Text 28"/>
          <p:cNvSpPr/>
          <p:nvPr/>
        </p:nvSpPr>
        <p:spPr>
          <a:xfrm>
            <a:off x="5052060" y="4645152"/>
            <a:ext cx="5349240" cy="6217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386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unsafe 主要来自 animal 与 shape 套件中有意设计的失败下转场景，能够被插件识别并解释。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vehicle suites运行失败根因分析与修复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65760" y="1243330"/>
            <a:ext cx="10652760" cy="4352925"/>
            <a:chOff x="1325" y="1958"/>
            <a:chExt cx="16776" cy="6855"/>
          </a:xfrm>
        </p:grpSpPr>
        <p:grpSp>
          <p:nvGrpSpPr>
            <p:cNvPr id="19" name="组合 18"/>
            <p:cNvGrpSpPr/>
            <p:nvPr/>
          </p:nvGrpSpPr>
          <p:grpSpPr>
            <a:xfrm>
              <a:off x="1325" y="1958"/>
              <a:ext cx="16776" cy="5443"/>
              <a:chOff x="1325" y="1958"/>
              <a:chExt cx="16776" cy="5443"/>
            </a:xfrm>
          </p:grpSpPr>
          <p:grpSp>
            <p:nvGrpSpPr>
              <p:cNvPr id="16" name="组合 15"/>
              <p:cNvGrpSpPr/>
              <p:nvPr/>
            </p:nvGrpSpPr>
            <p:grpSpPr>
              <a:xfrm>
                <a:off x="1325" y="1958"/>
                <a:ext cx="16776" cy="2390"/>
                <a:chOff x="1325" y="1958"/>
                <a:chExt cx="16776" cy="2390"/>
              </a:xfrm>
            </p:grpSpPr>
            <p:sp>
              <p:nvSpPr>
                <p:cNvPr id="8" name="Text 6"/>
                <p:cNvSpPr/>
                <p:nvPr/>
              </p:nvSpPr>
              <p:spPr>
                <a:xfrm>
                  <a:off x="1325" y="1958"/>
                  <a:ext cx="16776" cy="60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vehicle_hierarchy 有 7 个 property test 入口在第一阶段触发 rustc 栈溢出，导致 cargo-pta 终止。</a:t>
                  </a:r>
                  <a:endParaRPr lang="en-US" sz="19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9" name="Text 7"/>
                <p:cNvSpPr/>
                <p:nvPr/>
              </p:nvSpPr>
              <p:spPr>
                <a:xfrm>
                  <a:off x="1512" y="3024"/>
                  <a:ext cx="15840" cy="1325"/>
                </a:xfrm>
                <a:prstGeom prst="rect">
                  <a:avLst/>
                </a:prstGeom>
                <a:solidFill>
                  <a:srgbClr val="FFF3F3"/>
                </a:solidFill>
                <a:ln>
                  <a:solidFill>
                    <a:srgbClr val="F0CCCC"/>
                  </a:solidFill>
                </a:ln>
              </p:spPr>
              <p:txBody>
                <a:bodyPr wrap="square" lIns="1016" tIns="1016" rIns="1016" bIns="1016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500" dirty="0">
                      <a:solidFill>
                        <a:srgbClr val="A61C1C"/>
                      </a:solidFill>
                      <a:latin typeface="Courier New" panose="02070309020205020404" pitchFamily="34" charset="0"/>
                      <a:ea typeface="Courier New" panose="02070309020205020404" pitchFamily="34" charset="-122"/>
                      <a:cs typeface="Courier New" panose="02070309020205020404" pitchFamily="34" charset="-120"/>
                    </a:rPr>
                    <a:t>thread 'rustc' has overflowed its stack</a:t>
                  </a:r>
                  <a:endParaRPr lang="en-US" sz="1500" dirty="0"/>
                </a:p>
                <a:p>
                  <a:pPr marL="0" indent="0">
                    <a:buNone/>
                  </a:pPr>
                  <a:r>
                    <a:rPr lang="en-US" sz="1500" dirty="0">
                      <a:solidFill>
                        <a:srgbClr val="A61C1C"/>
                      </a:solidFill>
                      <a:latin typeface="Courier New" panose="02070309020205020404" pitchFamily="34" charset="0"/>
                      <a:ea typeface="Courier New" panose="02070309020205020404" pitchFamily="34" charset="-122"/>
                      <a:cs typeface="Courier New" panose="02070309020205020404" pitchFamily="34" charset="-120"/>
                    </a:rPr>
                    <a:t>fatal runtime error: stack overflow, aborting</a:t>
                  </a:r>
                  <a:endParaRPr lang="en-US" sz="1500" dirty="0"/>
                </a:p>
                <a:p>
                  <a:pPr marL="0" indent="0">
                    <a:buNone/>
                  </a:pPr>
                  <a:r>
                    <a:rPr lang="en-US" sz="1500" dirty="0">
                      <a:solidFill>
                        <a:srgbClr val="A61C1C"/>
                      </a:solidFill>
                      <a:latin typeface="Courier New" panose="02070309020205020404" pitchFamily="34" charset="0"/>
                      <a:ea typeface="Courier New" panose="02070309020205020404" pitchFamily="34" charset="-122"/>
                      <a:cs typeface="Courier New" panose="02070309020205020404" pitchFamily="34" charset="-120"/>
                    </a:rPr>
                    <a:t>error: could not compile `classes` (test "vehicle_hierarchy")</a:t>
                  </a:r>
                  <a:endParaRPr lang="en-US" sz="1500" dirty="0"/>
                </a:p>
              </p:txBody>
            </p:sp>
          </p:grpSp>
          <p:grpSp>
            <p:nvGrpSpPr>
              <p:cNvPr id="17" name="组合 16"/>
              <p:cNvGrpSpPr/>
              <p:nvPr/>
            </p:nvGrpSpPr>
            <p:grpSpPr>
              <a:xfrm>
                <a:off x="1325" y="4925"/>
                <a:ext cx="15840" cy="880"/>
                <a:chOff x="1512" y="4925"/>
                <a:chExt cx="15840" cy="880"/>
              </a:xfrm>
            </p:grpSpPr>
            <p:sp>
              <p:nvSpPr>
                <p:cNvPr id="10" name="Text 8"/>
                <p:cNvSpPr/>
                <p:nvPr/>
              </p:nvSpPr>
              <p:spPr>
                <a:xfrm>
                  <a:off x="1512" y="5066"/>
                  <a:ext cx="1296" cy="599"/>
                </a:xfrm>
                <a:prstGeom prst="rect">
                  <a:avLst/>
                </a:prstGeom>
                <a:solidFill>
                  <a:srgbClr val="2F5597"/>
                </a:solidFill>
                <a:ln>
                  <a:solidFill>
                    <a:srgbClr val="2F5597"/>
                  </a:solidFill>
                </a:ln>
              </p:spPr>
              <p:txBody>
                <a:bodyPr wrap="square" lIns="254" tIns="254" rIns="254" bIns="254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原因</a:t>
                  </a:r>
                  <a:endParaRPr lang="en-US" sz="1600" dirty="0"/>
                </a:p>
              </p:txBody>
            </p:sp>
            <p:sp>
              <p:nvSpPr>
                <p:cNvPr id="11" name="Text 9"/>
                <p:cNvSpPr/>
                <p:nvPr/>
              </p:nvSpPr>
              <p:spPr>
                <a:xfrm>
                  <a:off x="3384" y="4925"/>
                  <a:ext cx="13968" cy="8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75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proptest/property tests 会把大量测试框架泛型、策略、正则和进程隔离代码纳入可达范围，初始化阶段构建 MIR/PAG 时触发深递归</a:t>
                  </a:r>
                  <a:r>
                    <a:rPr lang="en-US" sz="1750" dirty="0">
                      <a:solidFill>
                        <a:srgbClr val="222222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。</a:t>
                  </a:r>
                  <a:endParaRPr lang="en-US" sz="1750" dirty="0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>
                <a:off x="1325" y="6509"/>
                <a:ext cx="15840" cy="892"/>
                <a:chOff x="1512" y="6509"/>
                <a:chExt cx="15840" cy="892"/>
              </a:xfrm>
            </p:grpSpPr>
            <p:sp>
              <p:nvSpPr>
                <p:cNvPr id="12" name="Text 10"/>
                <p:cNvSpPr/>
                <p:nvPr/>
              </p:nvSpPr>
              <p:spPr>
                <a:xfrm>
                  <a:off x="1512" y="6652"/>
                  <a:ext cx="1296" cy="607"/>
                </a:xfrm>
                <a:prstGeom prst="rect">
                  <a:avLst/>
                </a:prstGeom>
                <a:solidFill>
                  <a:srgbClr val="2F5597"/>
                </a:solidFill>
                <a:ln>
                  <a:solidFill>
                    <a:srgbClr val="2F5597"/>
                  </a:solidFill>
                </a:ln>
              </p:spPr>
              <p:txBody>
                <a:bodyPr wrap="square" lIns="254" tIns="254" rIns="254" bIns="254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修复</a:t>
                  </a:r>
                  <a:endParaRPr lang="en-US" sz="1600" dirty="0"/>
                </a:p>
              </p:txBody>
            </p:sp>
            <p:sp>
              <p:nvSpPr>
                <p:cNvPr id="13" name="Text 11"/>
                <p:cNvSpPr/>
                <p:nvPr/>
              </p:nvSpPr>
              <p:spPr>
                <a:xfrm>
                  <a:off x="3384" y="6509"/>
                  <a:ext cx="13968" cy="8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/>
                </a:bodyPr>
                <a:lstStyle/>
                <a:p>
                  <a:pPr marL="0" indent="0">
                    <a:buNone/>
                  </a:pPr>
                  <a:r>
                    <a:rPr lang="en-US" sz="175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识别 prop_* 下的业务 closure 并补种为根函数；在 prop-mode 下过滤 proptest、regex_syntax、rusty_fork、tempfile 等外部框架 callee。</a:t>
                  </a:r>
                  <a:endParaRPr lang="en-US" sz="175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20" name="组合 19"/>
            <p:cNvGrpSpPr/>
            <p:nvPr/>
          </p:nvGrpSpPr>
          <p:grpSpPr>
            <a:xfrm>
              <a:off x="1325" y="8093"/>
              <a:ext cx="15840" cy="720"/>
              <a:chOff x="1512" y="8093"/>
              <a:chExt cx="15840" cy="720"/>
            </a:xfrm>
          </p:grpSpPr>
          <p:sp>
            <p:nvSpPr>
              <p:cNvPr id="14" name="Text 12"/>
              <p:cNvSpPr/>
              <p:nvPr/>
            </p:nvSpPr>
            <p:spPr>
              <a:xfrm>
                <a:off x="1512" y="8208"/>
                <a:ext cx="1296" cy="490"/>
              </a:xfrm>
              <a:prstGeom prst="rect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结果</a:t>
                </a:r>
                <a:endParaRPr lang="en-US" sz="16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3384" y="8093"/>
                <a:ext cx="13968" cy="72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548235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7/7 个 prop_* 入口恢复；第二阶段全量测试 51/51 成功，0 栈溢出。</a:t>
                </a:r>
                <a:endParaRPr lang="en-US" sz="1800" dirty="0"/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  <a:sym typeface="+mn-ea"/>
              </a:rPr>
              <a:t>测试结果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11150" y="1152525"/>
            <a:ext cx="10058400" cy="2876550"/>
            <a:chOff x="547" y="2190"/>
            <a:chExt cx="15840" cy="4530"/>
          </a:xfrm>
        </p:grpSpPr>
        <p:grpSp>
          <p:nvGrpSpPr>
            <p:cNvPr id="58" name="组合 57"/>
            <p:cNvGrpSpPr/>
            <p:nvPr/>
          </p:nvGrpSpPr>
          <p:grpSpPr>
            <a:xfrm>
              <a:off x="547" y="2190"/>
              <a:ext cx="15840" cy="1252"/>
              <a:chOff x="1267" y="1901"/>
              <a:chExt cx="15840" cy="125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267" y="1901"/>
                <a:ext cx="2592" cy="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2F5597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51</a:t>
                </a:r>
                <a:endParaRPr lang="en-US" sz="2800" dirty="0"/>
              </a:p>
            </p:txBody>
          </p:sp>
          <p:sp>
            <p:nvSpPr>
              <p:cNvPr id="9" name="Text 7"/>
              <p:cNvSpPr/>
              <p:nvPr/>
            </p:nvSpPr>
            <p:spPr>
              <a:xfrm>
                <a:off x="1267" y="2693"/>
                <a:ext cx="2592" cy="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dirty="0">
                    <a:solidFill>
                      <a:srgbClr val="666666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分析入口总数</a:t>
                </a:r>
                <a:endParaRPr lang="en-US" sz="125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4579" y="1901"/>
                <a:ext cx="2592" cy="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548235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51</a:t>
                </a:r>
                <a:endParaRPr lang="en-US" sz="2800" dirty="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4579" y="2693"/>
                <a:ext cx="2592" cy="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dirty="0">
                    <a:solidFill>
                      <a:srgbClr val="666666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成功入口</a:t>
                </a:r>
                <a:endParaRPr lang="en-US" sz="1250" dirty="0"/>
              </a:p>
            </p:txBody>
          </p:sp>
          <p:sp>
            <p:nvSpPr>
              <p:cNvPr id="12" name="Text 10"/>
              <p:cNvSpPr/>
              <p:nvPr/>
            </p:nvSpPr>
            <p:spPr>
              <a:xfrm>
                <a:off x="7891" y="1901"/>
                <a:ext cx="2592" cy="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C55A11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28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7891" y="2693"/>
                <a:ext cx="2592" cy="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dirty="0">
                    <a:solidFill>
                      <a:srgbClr val="666666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失败入口</a:t>
                </a:r>
                <a:endParaRPr lang="en-US" sz="1250" dirty="0"/>
              </a:p>
            </p:txBody>
          </p:sp>
          <p:sp>
            <p:nvSpPr>
              <p:cNvPr id="14" name="Text 12"/>
              <p:cNvSpPr/>
              <p:nvPr/>
            </p:nvSpPr>
            <p:spPr>
              <a:xfrm>
                <a:off x="11203" y="1901"/>
                <a:ext cx="2592" cy="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A61C1C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2800" dirty="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11203" y="2693"/>
                <a:ext cx="2592" cy="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dirty="0">
                    <a:solidFill>
                      <a:srgbClr val="666666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栈溢出</a:t>
                </a:r>
                <a:endParaRPr lang="en-US" sz="1250" dirty="0"/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14515" y="1901"/>
                <a:ext cx="2592" cy="677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2F5597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100%</a:t>
                </a:r>
                <a:endParaRPr lang="en-US" sz="2800" dirty="0"/>
              </a:p>
            </p:txBody>
          </p:sp>
          <p:sp>
            <p:nvSpPr>
              <p:cNvPr id="17" name="Text 15"/>
              <p:cNvSpPr/>
              <p:nvPr/>
            </p:nvSpPr>
            <p:spPr>
              <a:xfrm>
                <a:off x="14515" y="2693"/>
                <a:ext cx="2592" cy="46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50" dirty="0">
                    <a:solidFill>
                      <a:srgbClr val="666666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产物完整</a:t>
                </a:r>
                <a:endParaRPr lang="en-US" sz="1250" dirty="0"/>
              </a:p>
            </p:txBody>
          </p:sp>
        </p:grpSp>
        <p:grpSp>
          <p:nvGrpSpPr>
            <p:cNvPr id="64" name="组合 63"/>
            <p:cNvGrpSpPr/>
            <p:nvPr/>
          </p:nvGrpSpPr>
          <p:grpSpPr>
            <a:xfrm>
              <a:off x="547" y="3768"/>
              <a:ext cx="15336" cy="2952"/>
              <a:chOff x="1512" y="4752"/>
              <a:chExt cx="15336" cy="2952"/>
            </a:xfrm>
          </p:grpSpPr>
          <p:sp>
            <p:nvSpPr>
              <p:cNvPr id="18" name="Text 16"/>
              <p:cNvSpPr/>
              <p:nvPr/>
            </p:nvSpPr>
            <p:spPr>
              <a:xfrm>
                <a:off x="1512" y="4752"/>
                <a:ext cx="5544" cy="492"/>
              </a:xfrm>
              <a:prstGeom prst="rect">
                <a:avLst/>
              </a:prstGeom>
              <a:solidFill>
                <a:srgbClr val="2F559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测试套件</a:t>
                </a:r>
                <a:endParaRPr lang="en-US" sz="1280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7056" y="4752"/>
                <a:ext cx="2448" cy="492"/>
              </a:xfrm>
              <a:prstGeom prst="rect">
                <a:avLst/>
              </a:prstGeom>
              <a:solidFill>
                <a:srgbClr val="2F559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入口数</a:t>
                </a:r>
                <a:endParaRPr lang="en-US" sz="1280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9504" y="4752"/>
                <a:ext cx="2448" cy="492"/>
              </a:xfrm>
              <a:prstGeom prst="rect">
                <a:avLst/>
              </a:prstGeom>
              <a:solidFill>
                <a:srgbClr val="2F559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成功</a:t>
                </a:r>
                <a:endParaRPr lang="en-US" sz="1280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11952" y="4752"/>
                <a:ext cx="2448" cy="492"/>
              </a:xfrm>
              <a:prstGeom prst="rect">
                <a:avLst/>
              </a:prstGeom>
              <a:solidFill>
                <a:srgbClr val="2F559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失败</a:t>
                </a:r>
                <a:endParaRPr lang="en-US" sz="1280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14400" y="4752"/>
                <a:ext cx="2448" cy="492"/>
              </a:xfrm>
              <a:prstGeom prst="rect">
                <a:avLst/>
              </a:prstGeom>
              <a:solidFill>
                <a:srgbClr val="2F559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栈溢出</a:t>
                </a:r>
                <a:endParaRPr lang="en-US" sz="128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512" y="5244"/>
                <a:ext cx="5544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animal_hierarchy</a:t>
                </a:r>
                <a:endParaRPr lang="en-US" sz="1280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7056" y="5244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22</a:t>
                </a:r>
                <a:endParaRPr lang="en-US" sz="1280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9504" y="5244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22</a:t>
                </a:r>
                <a:endParaRPr lang="en-US" sz="1280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11952" y="5244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14400" y="5244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1512" y="5736"/>
                <a:ext cx="5544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shape_hierarchy</a:t>
                </a:r>
                <a:endParaRPr lang="en-US" sz="128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7056" y="5736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12</a:t>
                </a:r>
                <a:endParaRPr lang="en-US" sz="1280" dirty="0"/>
              </a:p>
            </p:txBody>
          </p:sp>
          <p:sp>
            <p:nvSpPr>
              <p:cNvPr id="30" name="Text 28"/>
              <p:cNvSpPr/>
              <p:nvPr/>
            </p:nvSpPr>
            <p:spPr>
              <a:xfrm>
                <a:off x="9504" y="5736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12</a:t>
                </a:r>
                <a:endParaRPr lang="en-US" sz="1280" dirty="0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11952" y="5736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32" name="Text 30"/>
              <p:cNvSpPr/>
              <p:nvPr/>
            </p:nvSpPr>
            <p:spPr>
              <a:xfrm>
                <a:off x="14400" y="5736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33" name="Text 31"/>
              <p:cNvSpPr/>
              <p:nvPr/>
            </p:nvSpPr>
            <p:spPr>
              <a:xfrm>
                <a:off x="1512" y="6228"/>
                <a:ext cx="5544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vehicle_hierarchy</a:t>
                </a:r>
                <a:endParaRPr lang="en-US" sz="1280" dirty="0"/>
              </a:p>
            </p:txBody>
          </p:sp>
          <p:sp>
            <p:nvSpPr>
              <p:cNvPr id="34" name="Text 32"/>
              <p:cNvSpPr/>
              <p:nvPr/>
            </p:nvSpPr>
            <p:spPr>
              <a:xfrm>
                <a:off x="7056" y="6228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11</a:t>
                </a:r>
                <a:endParaRPr lang="en-US" sz="1280" dirty="0"/>
              </a:p>
            </p:txBody>
          </p:sp>
          <p:sp>
            <p:nvSpPr>
              <p:cNvPr id="35" name="Text 33"/>
              <p:cNvSpPr/>
              <p:nvPr/>
            </p:nvSpPr>
            <p:spPr>
              <a:xfrm>
                <a:off x="9504" y="6228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11</a:t>
                </a:r>
                <a:endParaRPr lang="en-US" sz="128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11952" y="6228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37" name="Text 35"/>
              <p:cNvSpPr/>
              <p:nvPr/>
            </p:nvSpPr>
            <p:spPr>
              <a:xfrm>
                <a:off x="14400" y="6228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38" name="Text 36"/>
              <p:cNvSpPr/>
              <p:nvPr/>
            </p:nvSpPr>
            <p:spPr>
              <a:xfrm>
                <a:off x="1512" y="6720"/>
                <a:ext cx="5544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rcpta_full_hierarchy</a:t>
                </a:r>
                <a:endParaRPr lang="en-US" sz="1280" dirty="0"/>
              </a:p>
            </p:txBody>
          </p:sp>
          <p:sp>
            <p:nvSpPr>
              <p:cNvPr id="39" name="Text 37"/>
              <p:cNvSpPr/>
              <p:nvPr/>
            </p:nvSpPr>
            <p:spPr>
              <a:xfrm>
                <a:off x="7056" y="6720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6</a:t>
                </a:r>
                <a:endParaRPr lang="en-US" sz="1280" dirty="0"/>
              </a:p>
            </p:txBody>
          </p:sp>
          <p:sp>
            <p:nvSpPr>
              <p:cNvPr id="40" name="Text 38"/>
              <p:cNvSpPr/>
              <p:nvPr/>
            </p:nvSpPr>
            <p:spPr>
              <a:xfrm>
                <a:off x="9504" y="6720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6</a:t>
                </a:r>
                <a:endParaRPr lang="en-US" sz="1280" dirty="0"/>
              </a:p>
            </p:txBody>
          </p:sp>
          <p:sp>
            <p:nvSpPr>
              <p:cNvPr id="41" name="Text 39"/>
              <p:cNvSpPr/>
              <p:nvPr/>
            </p:nvSpPr>
            <p:spPr>
              <a:xfrm>
                <a:off x="11952" y="6720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14400" y="6720"/>
                <a:ext cx="2448" cy="492"/>
              </a:xfrm>
              <a:prstGeom prst="rect">
                <a:avLst/>
              </a:prstGeom>
              <a:solidFill>
                <a:srgbClr val="FFFFFF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43" name="Text 41"/>
              <p:cNvSpPr/>
              <p:nvPr/>
            </p:nvSpPr>
            <p:spPr>
              <a:xfrm>
                <a:off x="1512" y="7212"/>
                <a:ext cx="5544" cy="492"/>
              </a:xfrm>
              <a:prstGeom prst="rect">
                <a:avLst/>
              </a:prstGeom>
              <a:solidFill>
                <a:srgbClr val="F4F5F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合计</a:t>
                </a:r>
                <a:endParaRPr lang="en-US" sz="1280" dirty="0"/>
              </a:p>
            </p:txBody>
          </p:sp>
          <p:sp>
            <p:nvSpPr>
              <p:cNvPr id="44" name="Text 42"/>
              <p:cNvSpPr/>
              <p:nvPr/>
            </p:nvSpPr>
            <p:spPr>
              <a:xfrm>
                <a:off x="7056" y="7212"/>
                <a:ext cx="2448" cy="492"/>
              </a:xfrm>
              <a:prstGeom prst="rect">
                <a:avLst/>
              </a:prstGeom>
              <a:solidFill>
                <a:srgbClr val="F4F5F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51</a:t>
                </a:r>
                <a:endParaRPr lang="en-US" sz="1280" dirty="0"/>
              </a:p>
            </p:txBody>
          </p:sp>
          <p:sp>
            <p:nvSpPr>
              <p:cNvPr id="45" name="Text 43"/>
              <p:cNvSpPr/>
              <p:nvPr/>
            </p:nvSpPr>
            <p:spPr>
              <a:xfrm>
                <a:off x="9504" y="7212"/>
                <a:ext cx="2448" cy="492"/>
              </a:xfrm>
              <a:prstGeom prst="rect">
                <a:avLst/>
              </a:prstGeom>
              <a:solidFill>
                <a:srgbClr val="F4F5F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51</a:t>
                </a:r>
                <a:endParaRPr lang="en-US" sz="1280" dirty="0"/>
              </a:p>
            </p:txBody>
          </p:sp>
          <p:sp>
            <p:nvSpPr>
              <p:cNvPr id="46" name="Text 44"/>
              <p:cNvSpPr/>
              <p:nvPr/>
            </p:nvSpPr>
            <p:spPr>
              <a:xfrm>
                <a:off x="11952" y="7212"/>
                <a:ext cx="2448" cy="492"/>
              </a:xfrm>
              <a:prstGeom prst="rect">
                <a:avLst/>
              </a:prstGeom>
              <a:solidFill>
                <a:srgbClr val="F4F5F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  <p:sp>
            <p:nvSpPr>
              <p:cNvPr id="47" name="Text 45"/>
              <p:cNvSpPr/>
              <p:nvPr/>
            </p:nvSpPr>
            <p:spPr>
              <a:xfrm>
                <a:off x="14400" y="7212"/>
                <a:ext cx="2448" cy="492"/>
              </a:xfrm>
              <a:prstGeom prst="rect">
                <a:avLst/>
              </a:prstGeom>
              <a:solidFill>
                <a:srgbClr val="F4F5F7"/>
              </a:solidFill>
              <a:ln w="7620">
                <a:solidFill>
                  <a:srgbClr val="D9DCE2"/>
                </a:solidFill>
              </a:ln>
            </p:spPr>
            <p:txBody>
              <a:bodyPr wrap="square" lIns="381" tIns="381" rIns="381" bIns="381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280" b="1" dirty="0">
                    <a:solidFill>
                      <a:srgbClr val="222222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0</a:t>
                </a:r>
                <a:endParaRPr lang="en-US" sz="1280" dirty="0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311150" y="4269105"/>
            <a:ext cx="10816590" cy="2146300"/>
            <a:chOff x="490" y="6773"/>
            <a:chExt cx="17034" cy="3380"/>
          </a:xfrm>
        </p:grpSpPr>
        <p:grpSp>
          <p:nvGrpSpPr>
            <p:cNvPr id="6" name="组合 5"/>
            <p:cNvGrpSpPr/>
            <p:nvPr/>
          </p:nvGrpSpPr>
          <p:grpSpPr>
            <a:xfrm>
              <a:off x="490" y="9463"/>
              <a:ext cx="17034" cy="690"/>
              <a:chOff x="1325" y="6912"/>
              <a:chExt cx="17034" cy="690"/>
            </a:xfrm>
          </p:grpSpPr>
          <p:sp>
            <p:nvSpPr>
              <p:cNvPr id="48" name="Text 8"/>
              <p:cNvSpPr/>
              <p:nvPr/>
            </p:nvSpPr>
            <p:spPr>
              <a:xfrm>
                <a:off x="1325" y="7013"/>
                <a:ext cx="2520" cy="490"/>
              </a:xfrm>
              <a:prstGeom prst="rect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Cast Safety</a:t>
                </a:r>
                <a:endParaRPr lang="en-US" sz="1600" dirty="0"/>
              </a:p>
            </p:txBody>
          </p:sp>
          <p:sp>
            <p:nvSpPr>
              <p:cNvPr id="49" name="Text 11"/>
              <p:cNvSpPr/>
              <p:nvPr/>
            </p:nvSpPr>
            <p:spPr>
              <a:xfrm>
                <a:off x="5213" y="6912"/>
                <a:ext cx="13146" cy="6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Autofit/>
              </a:bodyPr>
              <a:lstStyle/>
              <a:p>
                <a:pPr marL="0" indent="0">
                  <a:buNone/>
                </a:pPr>
                <a:r>
                  <a:rPr lang="en-US" sz="17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253 个 cast site 全量判定；217 safe，36 unsafe，18 must-unsafe，0 个边界不确定。</a:t>
                </a:r>
                <a:endParaRPr lang="en-US" sz="1700" dirty="0">
                  <a:solidFill>
                    <a:srgbClr val="22222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50" name="组合 49"/>
            <p:cNvGrpSpPr/>
            <p:nvPr/>
          </p:nvGrpSpPr>
          <p:grpSpPr>
            <a:xfrm>
              <a:off x="490" y="6773"/>
              <a:ext cx="16243" cy="979"/>
              <a:chOff x="1282" y="1901"/>
              <a:chExt cx="16243" cy="979"/>
            </a:xfrm>
          </p:grpSpPr>
          <p:sp>
            <p:nvSpPr>
              <p:cNvPr id="51" name="Text 6"/>
              <p:cNvSpPr/>
              <p:nvPr/>
            </p:nvSpPr>
            <p:spPr>
              <a:xfrm>
                <a:off x="1325" y="2002"/>
                <a:ext cx="3384" cy="490"/>
              </a:xfrm>
              <a:prstGeom prst="rect">
                <a:avLst/>
              </a:prstGeom>
              <a:solidFill>
                <a:srgbClr val="2F5597"/>
              </a:solidFill>
              <a:ln>
                <a:solidFill>
                  <a:srgbClr val="2F5597"/>
                </a:solidFill>
              </a:ln>
            </p:spPr>
            <p:txBody>
              <a:bodyPr wrap="square" lIns="254" tIns="254" rIns="254" bIns="254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Noto Sans CJK SC" pitchFamily="34" charset="0"/>
                    <a:ea typeface="Noto Sans CJK SC" pitchFamily="34" charset="-122"/>
                    <a:cs typeface="Noto Sans CJK SC" pitchFamily="34" charset="-120"/>
                  </a:rPr>
                  <a:t>ClassPAG / ClassPTS</a:t>
                </a:r>
                <a:endParaRPr lang="en-US" sz="1600" dirty="0"/>
              </a:p>
            </p:txBody>
          </p:sp>
          <p:sp>
            <p:nvSpPr>
              <p:cNvPr id="52" name="Text 9"/>
              <p:cNvSpPr/>
              <p:nvPr/>
            </p:nvSpPr>
            <p:spPr>
              <a:xfrm>
                <a:off x="5213" y="1901"/>
                <a:ext cx="12312" cy="6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normAutofit fontScale="90000"/>
              </a:bodyPr>
              <a:lstStyle/>
              <a:p>
                <a:pPr marL="0" indent="0">
                  <a:buNone/>
                </a:pPr>
                <a:r>
                  <a:rPr lang="en-US" sz="1900" dirty="0">
                    <a:solidFill>
                      <a:srgbClr val="222222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类级指针节点 942；抽象对象 179；非空 PTS 指针 917；非空比例约 97.35%。</a:t>
                </a:r>
                <a:endParaRPr lang="en-US" sz="1900" dirty="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53" name="Shape 12"/>
              <p:cNvSpPr/>
              <p:nvPr/>
            </p:nvSpPr>
            <p:spPr>
              <a:xfrm>
                <a:off x="1282" y="2880"/>
                <a:ext cx="16243" cy="0"/>
              </a:xfrm>
              <a:prstGeom prst="line">
                <a:avLst/>
              </a:prstGeom>
              <a:noFill/>
              <a:ln w="10160">
                <a:solidFill>
                  <a:srgbClr val="D9DCE2"/>
                </a:solidFill>
                <a:prstDash val="solid"/>
              </a:ln>
            </p:spPr>
          </p:sp>
        </p:grpSp>
        <p:grpSp>
          <p:nvGrpSpPr>
            <p:cNvPr id="54" name="组合 53"/>
            <p:cNvGrpSpPr/>
            <p:nvPr/>
          </p:nvGrpSpPr>
          <p:grpSpPr>
            <a:xfrm>
              <a:off x="490" y="8150"/>
              <a:ext cx="16242" cy="915"/>
              <a:chOff x="1325" y="4406"/>
              <a:chExt cx="16242" cy="915"/>
            </a:xfrm>
          </p:grpSpPr>
          <p:grpSp>
            <p:nvGrpSpPr>
              <p:cNvPr id="55" name="组合 54"/>
              <p:cNvGrpSpPr/>
              <p:nvPr/>
            </p:nvGrpSpPr>
            <p:grpSpPr>
              <a:xfrm>
                <a:off x="1325" y="4406"/>
                <a:ext cx="16200" cy="690"/>
                <a:chOff x="1325" y="4406"/>
                <a:chExt cx="16200" cy="690"/>
              </a:xfrm>
            </p:grpSpPr>
            <p:sp>
              <p:nvSpPr>
                <p:cNvPr id="56" name="Text 7"/>
                <p:cNvSpPr/>
                <p:nvPr/>
              </p:nvSpPr>
              <p:spPr>
                <a:xfrm>
                  <a:off x="1325" y="4507"/>
                  <a:ext cx="1944" cy="490"/>
                </a:xfrm>
                <a:prstGeom prst="rect">
                  <a:avLst/>
                </a:prstGeom>
                <a:solidFill>
                  <a:srgbClr val="2F5597"/>
                </a:solidFill>
                <a:ln>
                  <a:solidFill>
                    <a:srgbClr val="2F5597"/>
                  </a:solidFill>
                </a:ln>
              </p:spPr>
              <p:txBody>
                <a:bodyPr wrap="square" lIns="254" tIns="254" rIns="254" bIns="254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Noto Sans CJK SC" pitchFamily="34" charset="0"/>
                      <a:ea typeface="Noto Sans CJK SC" pitchFamily="34" charset="-122"/>
                      <a:cs typeface="Noto Sans CJK SC" pitchFamily="34" charset="-120"/>
                    </a:rPr>
                    <a:t>ClassCG</a:t>
                  </a:r>
                  <a:endParaRPr lang="en-US" sz="1600" dirty="0"/>
                </a:p>
              </p:txBody>
            </p:sp>
            <p:sp>
              <p:nvSpPr>
                <p:cNvPr id="57" name="Text 10"/>
                <p:cNvSpPr/>
                <p:nvPr/>
              </p:nvSpPr>
              <p:spPr>
                <a:xfrm>
                  <a:off x="5213" y="4406"/>
                  <a:ext cx="12312" cy="6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normAutofit fontScale="90000"/>
                </a:bodyPr>
                <a:lstStyle/>
                <a:p>
                  <a:pPr marL="0" indent="0">
                    <a:buNone/>
                  </a:pPr>
                  <a:r>
                    <a:rPr lang="en-US" sz="1900" dirty="0">
                      <a:solidFill>
                        <a:srgbClr val="222222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方法节点 192；caller 44；调用边 167；接口集合多态调用能够恢复具体实现类型。</a:t>
                  </a:r>
                  <a:endParaRPr lang="en-US" sz="1900" dirty="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59" name="Shape 13"/>
              <p:cNvSpPr/>
              <p:nvPr/>
            </p:nvSpPr>
            <p:spPr>
              <a:xfrm>
                <a:off x="1325" y="5321"/>
                <a:ext cx="16243" cy="0"/>
              </a:xfrm>
              <a:prstGeom prst="line">
                <a:avLst/>
              </a:prstGeom>
              <a:noFill/>
              <a:ln w="10160">
                <a:solidFill>
                  <a:srgbClr val="D9DCE2"/>
                </a:solidFill>
                <a:prstDash val="solid"/>
              </a:ln>
            </p:spPr>
          </p:sp>
        </p:grp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2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3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4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5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6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7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8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9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10.xml><?xml version="1.0" encoding="utf-8"?>
<p:tagLst xmlns:p="http://schemas.openxmlformats.org/presentationml/2006/main">
  <p:tag name="KSO_WM_DIAGRAM_VIRTUALLY_FRAME" val="{&quot;height&quot;:222.30716535433072,&quot;left&quot;:66.24,&quot;top&quot;:111.6,&quot;width&quot;:835.2}"/>
</p:tagLst>
</file>

<file path=ppt/tags/tag11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12.xml><?xml version="1.0" encoding="utf-8"?>
<p:tagLst xmlns:p="http://schemas.openxmlformats.org/presentationml/2006/main">
  <p:tag name="KSO_WM_DIAGRAM_VIRTUALLY_FRAME" val="{&quot;height&quot;:179.60480314960628,&quot;left&quot;:66.24,&quot;top&quot;:88.84,&quot;width&quot;:831.6}"/>
</p:tagLst>
</file>

<file path=ppt/tags/tag13.xml><?xml version="1.0" encoding="utf-8"?>
<p:tagLst xmlns:p="http://schemas.openxmlformats.org/presentationml/2006/main">
  <p:tag name="KSO_WM_DIAGRAM_VIRTUALLY_FRAME" val="{&quot;height&quot;:179.60480314960628,&quot;left&quot;:66.24,&quot;top&quot;:88.84,&quot;width&quot;:831.6}"/>
</p:tagLst>
</file>

<file path=ppt/tags/tag14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15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16.xml><?xml version="1.0" encoding="utf-8"?>
<p:tagLst xmlns:p="http://schemas.openxmlformats.org/presentationml/2006/main">
  <p:tag name="KSO_WM_DIAGRAM_VIRTUALLY_FRAME" val="{&quot;height&quot;:179.60480314960628,&quot;left&quot;:66.24,&quot;top&quot;:88.84,&quot;width&quot;:831.6}"/>
</p:tagLst>
</file>

<file path=ppt/tags/tag17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18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19.xml><?xml version="1.0" encoding="utf-8"?>
<p:tagLst xmlns:p="http://schemas.openxmlformats.org/presentationml/2006/main">
  <p:tag name="KSO_WM_DIAGRAM_VIRTUALLY_FRAME" val="{&quot;height&quot;:179.60480314960628,&quot;left&quot;:66.24,&quot;top&quot;:88.84,&quot;width&quot;:831.6}"/>
</p:tagLst>
</file>

<file path=ppt/tags/tag20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21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22.xml><?xml version="1.0" encoding="utf-8"?>
<p:tagLst xmlns:p="http://schemas.openxmlformats.org/presentationml/2006/main">
  <p:tag name="KSO_WM_DIAGRAM_VIRTUALLY_FRAME" val="{&quot;height&quot;:179.60480314960628,&quot;left&quot;:66.24,&quot;top&quot;:88.84,&quot;width&quot;:831.6}"/>
</p:tagLst>
</file>

<file path=ppt/tags/tag23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ags/tag24.xml><?xml version="1.0" encoding="utf-8"?>
<p:tagLst xmlns:p="http://schemas.openxmlformats.org/presentationml/2006/main">
  <p:tag name="KSO_WM_DIAGRAM_VIRTUALLY_FRAME" val="{&quot;height&quot;:261.76,&quot;left&quot;:66.24,&quot;top&quot;:88.84,&quot;width&quot;:831.6}"/>
</p:tagLst>
</file>

<file path=ppt/theme/theme1.xml><?xml version="1.0" encoding="utf-8"?>
<a:theme xmlns:a="http://schemas.openxmlformats.org/drawingml/2006/main" name="1_自定义设计方案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ssential">
      <a:majorFont>
        <a:latin typeface="Arial Black"/>
        <a:ea typeface="Arial"/>
        <a:cs typeface="Arial"/>
      </a:majorFont>
      <a:minorFont>
        <a:latin typeface="Arial"/>
        <a:ea typeface="Arial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3035</Words>
  <Application>WPS 演示</Application>
  <PresentationFormat>宽屏</PresentationFormat>
  <Paragraphs>329</Paragraphs>
  <Slides>11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宋体</vt:lpstr>
      <vt:lpstr>Wingdings</vt:lpstr>
      <vt:lpstr>Arial</vt:lpstr>
      <vt:lpstr>Wingdings</vt:lpstr>
      <vt:lpstr>Times New Roman</vt:lpstr>
      <vt:lpstr>微软雅黑</vt:lpstr>
      <vt:lpstr>Noto Sans CJK SC</vt:lpstr>
      <vt:lpstr>Segoe Print</vt:lpstr>
      <vt:lpstr>Noto Sans CJK SC</vt:lpstr>
      <vt:lpstr>Noto Sans CJK SC</vt:lpstr>
      <vt:lpstr>MingLiU-ExtB</vt:lpstr>
      <vt:lpstr>Arial Unicode MS</vt:lpstr>
      <vt:lpstr>等线</vt:lpstr>
      <vt:lpstr>Arial Black</vt:lpstr>
      <vt:lpstr>Calibri</vt:lpstr>
      <vt:lpstr>Times New Roman</vt:lpstr>
      <vt:lpstr>Courier New</vt:lpstr>
      <vt:lpstr>Courier New</vt:lpstr>
      <vt:lpstr>Courier New</vt:lpstr>
      <vt:lpstr>1_自定义设计方案</vt:lpstr>
      <vt:lpstr>PowerPoint 演示文稿</vt:lpstr>
      <vt:lpstr>项目背景与目标（第二阶段）</vt:lpstr>
      <vt:lpstr>第二阶段完成情况概览</vt:lpstr>
      <vt:lpstr>系统架构</vt:lpstr>
      <vt:lpstr>程序输入与处理范围</vt:lpstr>
      <vt:lpstr>识别语义操作</vt:lpstr>
      <vt:lpstr>识别语义操作</vt:lpstr>
      <vt:lpstr>Call Graph </vt:lpstr>
      <vt:lpstr>Class PAG</vt:lpstr>
      <vt:lpstr>输出效果</vt:lpstr>
      <vt:lpstr>输出效果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泽天 程</dc:creator>
  <cp:lastModifiedBy>07</cp:lastModifiedBy>
  <cp:revision>71</cp:revision>
  <dcterms:created xsi:type="dcterms:W3CDTF">2025-11-18T12:23:00Z</dcterms:created>
  <dcterms:modified xsi:type="dcterms:W3CDTF">2026-05-13T08:29:18Z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D33F481DC1B14A38B8348791B9794503_12</vt:lpwstr>
  </property>
  <property fmtid="{D5CDD505-2E9C-101B-9397-08002B2CF9AE}" pid="3" name="KSOProductBuildVer">
    <vt:lpwstr>2052-12.1.0.25865</vt:lpwstr>
  </property>
</Properties>
</file>