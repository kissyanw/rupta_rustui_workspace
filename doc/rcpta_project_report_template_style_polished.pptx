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1737360" cy="557784"/>
          </a:xfrm>
          <a:prstGeom prst="rect">
            <a:avLst/>
          </a:prstGeom>
        </p:spPr>
      </p:pic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35640" y="438912"/>
            <a:ext cx="658368" cy="420624"/>
          </a:xfrm>
          <a:prstGeom prst="rect">
            <a:avLst/>
          </a:prstGeom>
        </p:spPr>
      </p:pic>
      <p:sp>
        <p:nvSpPr>
          <p:cNvPr id="5" name="TextBox 5"/>
          <p:cNvSpPr/>
          <p:nvPr/>
        </p:nvSpPr>
        <p:spPr>
          <a:xfrm>
            <a:off x="749808" y="1234440"/>
            <a:ext cx="1024128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4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RCPTA 两阶段静态分析</a:t>
            </a:r>
            <a:endParaRPr lang="zh-CN" sz="4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39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与 Cast Site 诊断工具</a:t>
            </a:r>
            <a:endParaRPr lang="zh-CN" sz="39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804672" y="278892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20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面向 Rust OO-style DSL / Lite Class DSL 的类级 points-to 分析与 checked cast 风险诊断</a:t>
            </a:r>
            <a:endParaRPr lang="zh-CN" sz="20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 7"/>
          <p:cNvSpPr/>
          <p:nvPr/>
        </p:nvSpPr>
        <p:spPr>
          <a:xfrm>
            <a:off x="804672" y="3493008"/>
            <a:ext cx="102412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/>
          <p:nvPr/>
        </p:nvSpPr>
        <p:spPr>
          <a:xfrm>
            <a:off x="822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51</a:t>
            </a:r>
            <a:endParaRPr lang="zh-CN" sz="3500" b="1">
              <a:solidFill>
                <a:srgbClr val="2F5597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旧 DSL 全入口可分析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/>
          <p:nvPr/>
        </p:nvSpPr>
        <p:spPr>
          <a:xfrm>
            <a:off x="3108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69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Lite 原始套件结果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5394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604878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90</a:t>
            </a:r>
            <a:endParaRPr lang="zh-CN" sz="3500" b="1">
              <a:solidFill>
                <a:srgbClr val="604878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Cast Risk Matrix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/>
          <p:nvPr/>
        </p:nvSpPr>
        <p:spPr>
          <a:xfrm>
            <a:off x="7680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A61C1C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0</a:t>
            </a:r>
            <a:endParaRPr lang="zh-CN" sz="3500" b="1">
              <a:solidFill>
                <a:srgbClr val="A61C1C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最终 unknown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22960" y="5193792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18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核心贡献：从 MIR 层复杂展开中恢复 class/interface/mixin 对象流，输出可审计的动态类型集合与 cast 安全分类。</a:t>
            </a:r>
            <a:endParaRPr lang="zh-CN" sz="18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1. 项目问题与目标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Rust 宏与泛型展开后，源码级 OO 语义在 MIR 中被打散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2775" y="1700530"/>
            <a:ext cx="10771505" cy="4270375"/>
            <a:chOff x="1080" y="1944"/>
            <a:chExt cx="16963" cy="6725"/>
          </a:xfrm>
        </p:grpSpPr>
        <p:sp>
          <p:nvSpPr>
            <p:cNvPr id="703" name="TextBox 703"/>
            <p:cNvSpPr/>
            <p:nvPr/>
          </p:nvSpPr>
          <p:spPr>
            <a:xfrm>
              <a:off x="1080" y="1944"/>
              <a:ext cx="2232" cy="490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分析难点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1109" y="2549"/>
              <a:ext cx="5270" cy="6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类对象流跨 clone、move、引用临时变量传播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Option / Result / 容器 API 会打断 payload 路径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interface / mixin / downcast 需要源码级类型关系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普通 MIR points-to 难以直接解释源码 cast site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4" name="TextBox 704"/>
            <p:cNvSpPr/>
            <p:nvPr/>
          </p:nvSpPr>
          <p:spPr>
            <a:xfrm>
              <a:off x="6912" y="1944"/>
              <a:ext cx="2232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RCPTA 目标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6941" y="2549"/>
              <a:ext cx="5270" cy="6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构建 ClassPtr / ClassObj / ClassPAG 抽象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计算 ClassPTS 和动态类型集合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恢复 class / interface / mixin 继承关系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输出 safe / may-unsafe / must-unsafe / unknown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5" name="TextBox 705"/>
            <p:cNvSpPr/>
            <p:nvPr/>
          </p:nvSpPr>
          <p:spPr>
            <a:xfrm>
              <a:off x="12744" y="1944"/>
              <a:ext cx="2232" cy="490"/>
            </a:xfrm>
            <a:prstGeom prst="rect">
              <a:avLst/>
            </a:prstGeom>
            <a:solidFill>
              <a:srgbClr val="604878"/>
            </a:solidFill>
            <a:ln w="12700">
              <a:solidFill>
                <a:srgbClr val="604878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最终用途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2773" y="2549"/>
              <a:ext cx="5270" cy="6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解释对象可能流向哪里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解释 receiver 可能有哪些动态类型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为 cast erase 提供静态优化证据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把 unknown 暴露为建模缺口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56" name="Picture 656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2. 两阶段技术路线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第一阶段建立类级分析基线，第二阶段补齐真实 DSL 与 cast 诊断能力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/>
          <p:nvPr/>
        </p:nvSpPr>
        <p:spPr>
          <a:xfrm>
            <a:off x="777240" y="1417320"/>
            <a:ext cx="2926080" cy="1143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1800" b="1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1: 旧 DSL 基线</a:t>
            </a:r>
            <a:endParaRPr lang="zh-CN" sz="1800" b="1">
              <a:solidFill>
                <a:srgbClr val="2F559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ClassPAG / ClassPTS / ClassCG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animal / shape / vehicle / full 套件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Arrow 4"/>
          <p:cNvCxnSpPr/>
          <p:nvPr/>
        </p:nvCxnSpPr>
        <p:spPr>
          <a:xfrm>
            <a:off x="3703320" y="1984248"/>
            <a:ext cx="685800" cy="0"/>
          </a:xfrm>
          <a:prstGeom prst="straightConnector1">
            <a:avLst/>
          </a:prstGeom>
          <a:ln w="28575">
            <a:solidFill>
              <a:srgbClr val="2F5597"/>
            </a:solidFill>
            <a:headEnd type="none"/>
            <a:tailEnd type="triangle"/>
          </a:ln>
        </p:spPr>
      </p:cxnSp>
      <p:sp>
        <p:nvSpPr>
          <p:cNvPr id="5" name="TextBox 5"/>
          <p:cNvSpPr/>
          <p:nvPr/>
        </p:nvSpPr>
        <p:spPr>
          <a:xfrm>
            <a:off x="4434840" y="141732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1800" b="1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2A: 旧 DSL 增强</a:t>
            </a:r>
            <a:endParaRPr lang="zh-CN" sz="1800" b="1">
              <a:solidFill>
                <a:srgbClr val="54823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proptest 入口下钻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wrapper / container / cast risk detection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6" name="Arrow 6"/>
          <p:cNvCxnSpPr/>
          <p:nvPr/>
        </p:nvCxnSpPr>
        <p:spPr>
          <a:xfrm>
            <a:off x="7360920" y="1984248"/>
            <a:ext cx="685800" cy="0"/>
          </a:xfrm>
          <a:prstGeom prst="straightConnector1">
            <a:avLst/>
          </a:prstGeom>
          <a:ln w="28575">
            <a:solidFill>
              <a:srgbClr val="2F5597"/>
            </a:solidFill>
            <a:headEnd type="none"/>
            <a:tailEnd type="triangle"/>
          </a:ln>
        </p:spPr>
      </p:cxnSp>
      <p:sp>
        <p:nvSpPr>
          <p:cNvPr id="7" name="TextBox 7"/>
          <p:cNvSpPr/>
          <p:nvPr/>
        </p:nvSpPr>
        <p:spPr>
          <a:xfrm>
            <a:off x="8092440" y="141732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4878"/>
            </a:solidFill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1800" b="1">
                <a:solidFill>
                  <a:srgbClr val="6048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2B: Lite DSL</a:t>
            </a:r>
            <a:endParaRPr lang="zh-CN" sz="1800" b="1">
              <a:solidFill>
                <a:srgbClr val="6048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适配 Lite Class DSL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/>
            <a:r>
              <a: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构造 cast_risk_matrix</a:t>
            </a:r>
            <a:endParaRPr lang="zh-CN" sz="13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868680" y="3063240"/>
            <a:ext cx="14173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阶段一产出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886968" y="3447288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44 个入口成功产出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定位 vehicle prop 栈溢出和外部依赖噪声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验证类级对象流抽象可行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9" name="TextBox 709"/>
          <p:cNvSpPr/>
          <p:nvPr/>
        </p:nvSpPr>
        <p:spPr>
          <a:xfrm>
            <a:off x="4572000" y="3063240"/>
            <a:ext cx="141732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阶段二前半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/>
          <p:nvPr/>
        </p:nvSpPr>
        <p:spPr>
          <a:xfrm>
            <a:off x="4590288" y="3447288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旧 DSL 51 个入口全部成功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非空 points-to 比例约 97.35%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253 个旧 DSL cast site 完成诊断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8275320" y="3063240"/>
            <a:ext cx="141732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阶段二后半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8293608" y="3447288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Lite 原始套件 69 个入口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Cast Risk Matrix 90 个入口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最终 0 unknown / 0 空源诊断</a:t>
            </a:r>
            <a:endParaRPr lang="zh-CN" sz="15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1" name="Picture 661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3. 当前 RCPTA 架构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简化后的两阶段架构图，突出分析主链路和第二阶段语义增强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842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4. 核心抽象：ClassPAG 与 ClassPTS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 MIR 中与 DSL 类引用相关的行为提升为源码级对象流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03250" y="1772920"/>
            <a:ext cx="10588625" cy="4316095"/>
            <a:chOff x="1152" y="1800"/>
            <a:chExt cx="16675" cy="6797"/>
          </a:xfrm>
        </p:grpSpPr>
        <p:grpSp>
          <p:nvGrpSpPr>
            <p:cNvPr id="7" name="组合 6"/>
            <p:cNvGrpSpPr/>
            <p:nvPr/>
          </p:nvGrpSpPr>
          <p:grpSpPr>
            <a:xfrm>
              <a:off x="1152" y="1800"/>
              <a:ext cx="5155" cy="6797"/>
              <a:chOff x="1152" y="1800"/>
              <a:chExt cx="5155" cy="6797"/>
            </a:xfrm>
          </p:grpSpPr>
          <p:sp>
            <p:nvSpPr>
              <p:cNvPr id="703" name="TextBox 703"/>
              <p:cNvSpPr/>
              <p:nvPr/>
            </p:nvSpPr>
            <p:spPr>
              <a:xfrm>
                <a:off x="1152" y="1800"/>
                <a:ext cx="2232" cy="490"/>
              </a:xfrm>
              <a:prstGeom prst="rect">
                <a:avLst/>
              </a:prstGeom>
              <a:solidFill>
                <a:srgbClr val="2F5597"/>
              </a:solidFill>
              <a:ln w="12700">
                <a:solidFill>
                  <a:srgbClr val="2F5597"/>
                </a:solidFill>
              </a:ln>
            </p:spPr>
            <p:txBody>
              <a:bodyPr wrap="none" lIns="91440" tIns="60960" rIns="91440" bIns="60960" anchor="ctr"/>
              <a:lstStyle/>
              <a:p>
                <a:pPr algn="ctr"/>
                <a:r>
                  <a:rPr lang="zh-CN" sz="1300" b="1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ClassPtr</a:t>
                </a:r>
                <a:endPara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" name="TextBox 3"/>
              <p:cNvSpPr/>
              <p:nvPr/>
            </p:nvSpPr>
            <p:spPr>
              <a:xfrm>
                <a:off x="1181" y="2405"/>
                <a:ext cx="5126" cy="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0" rIns="91440" bIns="0" anchor="t"/>
              <a:lstStyle/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4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局部变量、参数、返回值</a:t>
                </a:r>
                <a:endPara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4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字段、wrapper payload</a:t>
                </a:r>
                <a:endPara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4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container element slot / map value slot</a:t>
                </a:r>
                <a:endPara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0"/>
                  </a:spcAft>
                  <a:buChar char="•"/>
                </a:pPr>
                <a:r>
                  <a:rPr lang="zh-CN" sz="14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cast 源、cast 结果和 canonical path</a:t>
                </a:r>
                <a:endPara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04" name="TextBox 704"/>
            <p:cNvSpPr/>
            <p:nvPr/>
          </p:nvSpPr>
          <p:spPr>
            <a:xfrm>
              <a:off x="6912" y="1800"/>
              <a:ext cx="2232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ClassObj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6941" y="2405"/>
              <a:ext cx="5126" cy="61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基于分配点的抽象对象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记录动态 class type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对象身份与类型集合解耦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服务动态类型范围计算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5" name="TextBox 705"/>
            <p:cNvSpPr/>
            <p:nvPr/>
          </p:nvSpPr>
          <p:spPr>
            <a:xfrm>
              <a:off x="12672" y="1800"/>
              <a:ext cx="2232" cy="490"/>
            </a:xfrm>
            <a:prstGeom prst="rect">
              <a:avLst/>
            </a:prstGeom>
            <a:solidFill>
              <a:srgbClr val="604878"/>
            </a:solidFill>
            <a:ln w="12700">
              <a:solidFill>
                <a:srgbClr val="604878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ClassPAG 边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2701" y="2405"/>
              <a:ext cx="5126" cy="61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Alloc / Assign / Cast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Load / Store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CallArg / CallRet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Cast 边保留 pre-cast PTS 快照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56" name="Picture 656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5. Cast Safety 分类逻辑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用源动态类型集合与目标静态类型关系进行可解释诊断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81660" y="1808480"/>
            <a:ext cx="10633710" cy="3446780"/>
            <a:chOff x="1368" y="1944"/>
            <a:chExt cx="16746" cy="5428"/>
          </a:xfrm>
        </p:grpSpPr>
        <p:sp>
          <p:nvSpPr>
            <p:cNvPr id="3" name="TextBox 3"/>
            <p:cNvSpPr/>
            <p:nvPr/>
          </p:nvSpPr>
          <p:spPr>
            <a:xfrm>
              <a:off x="1368" y="1944"/>
              <a:ext cx="3672" cy="1584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1800" b="1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Source</a:t>
              </a:r>
              <a:endParaRPr lang="zh-CN" sz="1800" b="1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pre-cast source PTS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dynamic type set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4" name="Arrow 4"/>
            <p:cNvCxnSpPr/>
            <p:nvPr/>
          </p:nvCxnSpPr>
          <p:spPr>
            <a:xfrm>
              <a:off x="5040" y="2736"/>
              <a:ext cx="1224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/>
              <a:tailEnd type="triangle"/>
            </a:ln>
          </p:spPr>
        </p:cxnSp>
        <p:sp>
          <p:nvSpPr>
            <p:cNvPr id="5" name="TextBox 5"/>
            <p:cNvSpPr/>
            <p:nvPr/>
          </p:nvSpPr>
          <p:spPr>
            <a:xfrm>
              <a:off x="6336" y="1944"/>
              <a:ext cx="3672" cy="1584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1800" b="1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Target</a:t>
              </a:r>
              <a:endParaRPr lang="zh-CN" sz="1800" b="1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static destination type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 / interface / mixin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6" name="Arrow 6"/>
            <p:cNvCxnSpPr/>
            <p:nvPr/>
          </p:nvCxnSpPr>
          <p:spPr>
            <a:xfrm>
              <a:off x="10008" y="2736"/>
              <a:ext cx="1224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/>
              <a:tailEnd type="triangle"/>
            </a:ln>
          </p:spPr>
        </p:cxnSp>
        <p:sp>
          <p:nvSpPr>
            <p:cNvPr id="7" name="TextBox 7"/>
            <p:cNvSpPr/>
            <p:nvPr/>
          </p:nvSpPr>
          <p:spPr>
            <a:xfrm>
              <a:off x="11304" y="1944"/>
              <a:ext cx="3672" cy="1584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1800" b="1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Relation</a:t>
              </a:r>
              <a:endParaRPr lang="zh-CN" sz="1800" b="1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extends* / implements*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with* closure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8" name="Arrow 8"/>
            <p:cNvCxnSpPr/>
            <p:nvPr/>
          </p:nvCxnSpPr>
          <p:spPr>
            <a:xfrm>
              <a:off x="14976" y="2736"/>
              <a:ext cx="1008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/>
              <a:tailEnd type="triangle"/>
            </a:ln>
          </p:spPr>
        </p:cxnSp>
        <p:sp>
          <p:nvSpPr>
            <p:cNvPr id="9" name="TextBox 9"/>
            <p:cNvSpPr/>
            <p:nvPr/>
          </p:nvSpPr>
          <p:spPr>
            <a:xfrm>
              <a:off x="16056" y="1944"/>
              <a:ext cx="1944" cy="1584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1800" b="1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Result</a:t>
              </a:r>
              <a:endParaRPr lang="zh-CN" sz="1800" b="1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/>
              <a:r>
                <a:rPr lang="zh-CN" sz="13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classification</a:t>
              </a:r>
              <a:endParaRPr lang="zh-CN" sz="13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1368" y="4392"/>
              <a:ext cx="16747" cy="2981"/>
              <a:chOff x="1368" y="4392"/>
              <a:chExt cx="16747" cy="2981"/>
            </a:xfrm>
          </p:grpSpPr>
          <p:sp>
            <p:nvSpPr>
              <p:cNvPr id="710" name="TextBox 710"/>
              <p:cNvSpPr/>
              <p:nvPr/>
            </p:nvSpPr>
            <p:spPr>
              <a:xfrm>
                <a:off x="1368" y="4392"/>
                <a:ext cx="2232" cy="490"/>
              </a:xfrm>
              <a:prstGeom prst="rect">
                <a:avLst/>
              </a:prstGeom>
              <a:solidFill>
                <a:srgbClr val="548235"/>
              </a:solidFill>
              <a:ln w="12700">
                <a:solidFill>
                  <a:srgbClr val="548235"/>
                </a:solidFill>
              </a:ln>
            </p:spPr>
            <p:txBody>
              <a:bodyPr wrap="none" lIns="91440" tIns="60960" rIns="91440" bIns="60960" anchor="ctr"/>
              <a:lstStyle/>
              <a:p>
                <a:pPr algn="ctr"/>
                <a:r>
                  <a:rPr lang="zh-CN" sz="1300" b="1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safe</a:t>
                </a:r>
                <a:endPara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/>
              <p:nvPr/>
            </p:nvSpPr>
            <p:spPr>
              <a:xfrm>
                <a:off x="1397" y="4997"/>
                <a:ext cx="3758" cy="2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0" rIns="91440" bIns="0" anchor="t"/>
              <a:lstStyle/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所有源动态类型都满足目标类型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可作为 cast erase 优化候选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11" name="TextBox 711"/>
              <p:cNvSpPr/>
              <p:nvPr/>
            </p:nvSpPr>
            <p:spPr>
              <a:xfrm>
                <a:off x="5688" y="4392"/>
                <a:ext cx="2232" cy="490"/>
              </a:xfrm>
              <a:prstGeom prst="rect">
                <a:avLst/>
              </a:prstGeom>
              <a:solidFill>
                <a:srgbClr val="604878"/>
              </a:solidFill>
              <a:ln w="12700">
                <a:solidFill>
                  <a:srgbClr val="604878"/>
                </a:solidFill>
              </a:ln>
            </p:spPr>
            <p:txBody>
              <a:bodyPr wrap="none" lIns="91440" tIns="60960" rIns="91440" bIns="60960" anchor="ctr"/>
              <a:lstStyle/>
              <a:p>
                <a:pPr algn="ctr"/>
                <a:r>
                  <a:rPr lang="zh-CN" sz="1300" b="1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may-unsafe</a:t>
                </a:r>
                <a:endPara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/>
              <p:nvPr/>
            </p:nvSpPr>
            <p:spPr>
              <a:xfrm>
                <a:off x="5717" y="4997"/>
                <a:ext cx="3758" cy="2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0" rIns="91440" bIns="0" anchor="t"/>
              <a:lstStyle/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部分满足、部分不满足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当前需保留运行时检查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12" name="TextBox 712"/>
              <p:cNvSpPr/>
              <p:nvPr/>
            </p:nvSpPr>
            <p:spPr>
              <a:xfrm>
                <a:off x="10008" y="4392"/>
                <a:ext cx="2232" cy="490"/>
              </a:xfrm>
              <a:prstGeom prst="rect">
                <a:avLst/>
              </a:prstGeom>
              <a:solidFill>
                <a:srgbClr val="A61C1C"/>
              </a:solidFill>
              <a:ln w="12700">
                <a:solidFill>
                  <a:srgbClr val="A61C1C"/>
                </a:solidFill>
              </a:ln>
            </p:spPr>
            <p:txBody>
              <a:bodyPr wrap="none" lIns="91440" tIns="60960" rIns="91440" bIns="60960" anchor="ctr"/>
              <a:lstStyle/>
              <a:p>
                <a:pPr algn="ctr"/>
                <a:r>
                  <a:rPr lang="zh-CN" sz="1300" b="1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must-unsafe</a:t>
                </a:r>
                <a:endPara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/>
              <p:nvPr/>
            </p:nvSpPr>
            <p:spPr>
              <a:xfrm>
                <a:off x="10037" y="4997"/>
                <a:ext cx="3758" cy="2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0" rIns="91440" bIns="0" anchor="t"/>
              <a:lstStyle/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所有源动态类型都不满足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表示必然失败路径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13" name="TextBox 713"/>
              <p:cNvSpPr/>
              <p:nvPr/>
            </p:nvSpPr>
            <p:spPr>
              <a:xfrm>
                <a:off x="14328" y="4392"/>
                <a:ext cx="2232" cy="490"/>
              </a:xfrm>
              <a:prstGeom prst="rect">
                <a:avLst/>
              </a:prstGeom>
              <a:solidFill>
                <a:srgbClr val="C19859"/>
              </a:solidFill>
              <a:ln w="12700">
                <a:solidFill>
                  <a:srgbClr val="C19859"/>
                </a:solidFill>
              </a:ln>
            </p:spPr>
            <p:txBody>
              <a:bodyPr wrap="none" lIns="91440" tIns="60960" rIns="91440" bIns="60960" anchor="ctr"/>
              <a:lstStyle/>
              <a:p>
                <a:pPr algn="ctr"/>
                <a:r>
                  <a:rPr lang="zh-CN" sz="1300" b="1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unknown</a:t>
                </a:r>
                <a:endPara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/>
              <p:nvPr/>
            </p:nvSpPr>
            <p:spPr>
              <a:xfrm>
                <a:off x="14357" y="4997"/>
                <a:ext cx="3758" cy="2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0" rIns="91440" bIns="0" anchor="t"/>
              <a:lstStyle/>
              <a:p>
                <a:pPr algn="l">
                  <a:spcAft>
                    <a:spcPts val="30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源 PTS 或目标类型证据不足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>
                  <a:spcAft>
                    <a:spcPts val="0"/>
                  </a:spcAft>
                  <a:buChar char="•"/>
                </a:pPr>
                <a:r>
                  <a:rPr lang="zh-CN" sz="1500">
                    <a:solidFill>
                      <a:srgbClr val="2222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表示建模缺口</a:t>
                </a:r>
                <a:endPara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614" name="Rect 614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4" name="Picture 664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6. 第二阶段关键语义增强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高价值修改集中在 wrapper、container、入口恢复和 cast-aware 传播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85800" y="1338580"/>
            <a:ext cx="10771505" cy="4133215"/>
            <a:chOff x="1080" y="1656"/>
            <a:chExt cx="16963" cy="6509"/>
          </a:xfrm>
        </p:grpSpPr>
        <p:sp>
          <p:nvSpPr>
            <p:cNvPr id="703" name="TextBox 703"/>
            <p:cNvSpPr/>
            <p:nvPr/>
          </p:nvSpPr>
          <p:spPr>
            <a:xfrm>
              <a:off x="1080" y="1656"/>
              <a:ext cx="2261" cy="490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Wrapper 摘要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1109" y="2261"/>
              <a:ext cx="5270" cy="2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Option / Result unwrap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ok_or / map / and_then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or / or_else / unwrap_or_else fallback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as_ref 引用 wrapper payload bridge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4" name="TextBox 704"/>
            <p:cNvSpPr/>
            <p:nvPr/>
          </p:nvSpPr>
          <p:spPr>
            <a:xfrm>
              <a:off x="6912" y="1656"/>
              <a:ext cx="3269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Container / Iterator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6941" y="2261"/>
              <a:ext cx="5270" cy="2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Vec element summary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iter / into_iter / next / find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collect result element slot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HashMap / BTreeMap value slot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5" name="TextBox 705"/>
            <p:cNvSpPr/>
            <p:nvPr/>
          </p:nvSpPr>
          <p:spPr>
            <a:xfrm>
              <a:off x="12744" y="1656"/>
              <a:ext cx="2866" cy="490"/>
            </a:xfrm>
            <a:prstGeom prst="rect">
              <a:avLst/>
            </a:prstGeom>
            <a:solidFill>
              <a:srgbClr val="604878"/>
            </a:solidFill>
            <a:ln w="12700">
              <a:solidFill>
                <a:srgbClr val="604878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入口与外部依赖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2773" y="2261"/>
              <a:ext cx="5270" cy="2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proptest wrapper drill-down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业务 closure 补种为分析根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过滤无关外部 framework callee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降低调用图和初始化噪声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6" name="TextBox 706"/>
            <p:cNvSpPr/>
            <p:nvPr/>
          </p:nvSpPr>
          <p:spPr>
            <a:xfrm>
              <a:off x="1080" y="5616"/>
              <a:ext cx="3341" cy="490"/>
            </a:xfrm>
            <a:prstGeom prst="rect">
              <a:avLst/>
            </a:prstGeom>
            <a:solidFill>
              <a:srgbClr val="A61C1C"/>
            </a:solidFill>
            <a:ln w="12700">
              <a:solidFill>
                <a:srgbClr val="A61C1C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Cast-aware propagation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109" y="6221"/>
              <a:ext cx="8222" cy="1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记录 cast 前源 points-to，而不是依赖 cast 后结果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目标类型过滤传播，避免 cast 后自污染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7" name="TextBox 707"/>
            <p:cNvSpPr/>
            <p:nvPr/>
          </p:nvSpPr>
          <p:spPr>
            <a:xfrm>
              <a:off x="9864" y="5616"/>
              <a:ext cx="2232" cy="490"/>
            </a:xfrm>
            <a:prstGeom prst="rect">
              <a:avLst/>
            </a:prstGeom>
            <a:solidFill>
              <a:srgbClr val="C19859"/>
            </a:solidFill>
            <a:ln w="12700">
              <a:solidFill>
                <a:srgbClr val="C19859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当前边界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" name="TextBox 7"/>
            <p:cNvSpPr/>
            <p:nvPr/>
          </p:nvSpPr>
          <p:spPr>
            <a:xfrm>
              <a:off x="9893" y="6221"/>
              <a:ext cx="8150" cy="1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主验证路径仍是上下文不敏感、流不敏感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字段覆盖和路径合流会保守地产生 may-unsafe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08" name="Rect 608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58" name="Picture 658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7. 旧 DSL 测试结果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从第一阶段部分入口失败，到第二阶段四套件全入口成功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7240" y="1593215"/>
            <a:ext cx="10607040" cy="3676015"/>
            <a:chOff x="1224" y="1944"/>
            <a:chExt cx="16704" cy="5789"/>
          </a:xfrm>
        </p:grpSpPr>
        <p:sp>
          <p:nvSpPr>
            <p:cNvPr id="3" name="TextBox 3"/>
            <p:cNvSpPr/>
            <p:nvPr/>
          </p:nvSpPr>
          <p:spPr>
            <a:xfrm>
              <a:off x="1224" y="1944"/>
              <a:ext cx="3168" cy="1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3500" b="1">
                  <a:solidFill>
                    <a:srgbClr val="2F5597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</a:rPr>
                <a:t>44 / 51</a:t>
              </a:r>
              <a:endPara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endParaRPr>
            </a:p>
            <a:p>
              <a:pPr algn="ctr"/>
              <a:r>
                <a:rPr lang="zh-CN" sz="14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第一阶段成功入口</a:t>
              </a:r>
              <a:endPara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4968" y="1944"/>
              <a:ext cx="3168" cy="1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3500" b="1">
                  <a:solidFill>
                    <a:srgbClr val="548235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</a:rPr>
                <a:t>51 / 51</a:t>
              </a:r>
              <a:endPara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endParaRPr>
            </a:p>
            <a:p>
              <a:pPr algn="ctr"/>
              <a:r>
                <a:rPr lang="zh-CN" sz="14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第二阶段成功入口</a:t>
              </a:r>
              <a:endPara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8712" y="1944"/>
              <a:ext cx="3168" cy="1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3500" b="1">
                  <a:solidFill>
                    <a:srgbClr val="548235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</a:rPr>
                <a:t>917 / 942</a:t>
              </a:r>
              <a:endPara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endParaRPr>
            </a:p>
            <a:p>
              <a:pPr algn="ctr"/>
              <a:r>
                <a:rPr lang="zh-CN" sz="14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非空 points-to 指针</a:t>
              </a:r>
              <a:endPara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2456" y="1944"/>
              <a:ext cx="3168" cy="1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3500" b="1">
                  <a:solidFill>
                    <a:srgbClr val="2F5597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</a:rPr>
                <a:t>253</a:t>
              </a:r>
              <a:endPara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endParaRPr>
            </a:p>
            <a:p>
              <a:pPr algn="ctr"/>
              <a:r>
                <a:rPr lang="zh-CN" sz="14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旧 DSL cast sites</a:t>
              </a:r>
              <a:endPara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" name="TextBox 7"/>
            <p:cNvSpPr/>
            <p:nvPr/>
          </p:nvSpPr>
          <p:spPr>
            <a:xfrm>
              <a:off x="15840" y="1944"/>
              <a:ext cx="2088" cy="1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960" rIns="91440" bIns="60960" anchor="ctr"/>
            <a:lstStyle/>
            <a:p>
              <a:pPr algn="ctr"/>
              <a:r>
                <a:rPr lang="zh-CN" sz="3500" b="1">
                  <a:solidFill>
                    <a:srgbClr val="548235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</a:rPr>
                <a:t>0</a:t>
              </a:r>
              <a:endPara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endParaRPr>
            </a:p>
            <a:p>
              <a:pPr algn="ctr"/>
              <a:r>
                <a:rPr lang="zh-CN" sz="1400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边界不确定</a:t>
              </a:r>
              <a:endPara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8" name="TextBox 708"/>
            <p:cNvSpPr/>
            <p:nvPr/>
          </p:nvSpPr>
          <p:spPr>
            <a:xfrm>
              <a:off x="1296" y="4320"/>
              <a:ext cx="2232" cy="490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覆盖套件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325" y="4925"/>
              <a:ext cx="5126" cy="28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animal_hierarchy: 22 entries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shape_hierarchy: 12 entries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vehicle_hierarchy: 11 entries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rcpta_full_hierarchy: 6 entries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9" name="TextBox 709"/>
            <p:cNvSpPr/>
            <p:nvPr/>
          </p:nvSpPr>
          <p:spPr>
            <a:xfrm>
              <a:off x="6984" y="4320"/>
              <a:ext cx="2549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主要修复效果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7013" y="4925"/>
              <a:ext cx="5126" cy="28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vehicle prop 测试入口不再栈溢出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wrapper/container 传播减少空 points-to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5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接口多态 receiver 类型可恢复</a:t>
              </a:r>
              <a:endParaRPr lang="zh-CN" sz="15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10" name="TextBox 710"/>
            <p:cNvSpPr/>
            <p:nvPr/>
          </p:nvSpPr>
          <p:spPr>
            <a:xfrm>
              <a:off x="12672" y="4320"/>
              <a:ext cx="2232" cy="490"/>
            </a:xfrm>
            <a:prstGeom prst="rect">
              <a:avLst/>
            </a:prstGeom>
            <a:solidFill>
              <a:srgbClr val="604878"/>
            </a:solidFill>
            <a:ln w="12700">
              <a:solidFill>
                <a:srgbClr val="604878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Cast 结果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12701" y="4925"/>
              <a:ext cx="5126" cy="28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217 safe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36 unsafe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 must-unsafe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 boundary unknown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1" name="Picture 661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8. 新 Lite Class DSL 三套原始测试套件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这些结果来自 lite_class_dsl/analysis_results/rcpta，而不是旧 rustdsl/classes 套件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/>
          <p:nvPr/>
        </p:nvSpPr>
        <p:spPr>
          <a:xfrm>
            <a:off x="68580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30</a:t>
            </a:r>
            <a:endParaRPr lang="zh-CN" sz="3500" b="1">
              <a:solidFill>
                <a:srgbClr val="2F5597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Lite animal_hierarchy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83464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20</a:t>
            </a:r>
            <a:endParaRPr lang="zh-CN" sz="3500" b="1">
              <a:solidFill>
                <a:srgbClr val="2F5597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Lite shape_hierarchy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498348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19</a:t>
            </a:r>
            <a:endParaRPr lang="zh-CN" sz="3500" b="1">
              <a:solidFill>
                <a:srgbClr val="2F5597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Lite vehicle_hierarchy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713232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69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 DSL 合计入口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xtBox 7"/>
          <p:cNvSpPr/>
          <p:nvPr/>
        </p:nvSpPr>
        <p:spPr>
          <a:xfrm>
            <a:off x="928116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0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unknown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685800" y="2514600"/>
            <a:ext cx="180594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 DSL 聚合规模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704088" y="2898648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ClassPtr: 6928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ClassObj / Alloc: 789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Assign edges: 1173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Cast edges: 979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Typed ptrs: 2136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9" name="TextBox 709"/>
          <p:cNvSpPr/>
          <p:nvPr/>
        </p:nvSpPr>
        <p:spPr>
          <a:xfrm>
            <a:off x="4389120" y="2514600"/>
            <a:ext cx="1792224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 DSL Cast 日志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/>
          <p:nvPr/>
        </p:nvSpPr>
        <p:spPr>
          <a:xfrm>
            <a:off x="4407407" y="2898648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 cast records: 65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Must-unsafe records: 31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No-cast entries: 44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Unknown: 0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未出现 empty points-to 源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8092440" y="2514600"/>
            <a:ext cx="1604772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与旧 DSL 区分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8110727" y="2898648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目录：lite_class_dsl/analysis_results/rcpta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主要服务 Lite DSL 本体回归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animal/shape 覆盖 downcast 成功与失败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vehicle 侧重 interface receiver 类型恢复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证明 RCPTA 可运行在新 DSL 真实测试上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1" name="Picture 661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9. Cast Risk Matrix：高价值 Cast Site 数据集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专门服务 cast erase / cast risk detection 的最终验证矩阵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/>
          <p:nvPr/>
        </p:nvSpPr>
        <p:spPr>
          <a:xfrm>
            <a:off x="77724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2F5597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90</a:t>
            </a:r>
            <a:endParaRPr lang="zh-CN" sz="3500" b="1">
              <a:solidFill>
                <a:srgbClr val="2F5597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public entries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92608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43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07492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604878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40</a:t>
            </a:r>
            <a:endParaRPr lang="zh-CN" sz="3500" b="1">
              <a:solidFill>
                <a:srgbClr val="604878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may-unsafe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722376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A61C1C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7</a:t>
            </a:r>
            <a:endParaRPr lang="zh-CN" sz="3500" b="1">
              <a:solidFill>
                <a:srgbClr val="A61C1C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must-unsafe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xtBox 7"/>
          <p:cNvSpPr/>
          <p:nvPr/>
        </p:nvSpPr>
        <p:spPr>
          <a:xfrm>
            <a:off x="937260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0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unknown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777240" y="2606040"/>
            <a:ext cx="14173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覆盖场景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795528" y="2990088"/>
            <a:ext cx="5038344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local object / helper return / multi-level downcast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field store-load / two-holder precision / clone alias chain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Option / Result: unwrap, map, and_then, fallback, as_ref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 / iterator / collect, HashMap / BTreeMap value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9" name="TextBox 709"/>
          <p:cNvSpPr/>
          <p:nvPr/>
        </p:nvSpPr>
        <p:spPr>
          <a:xfrm>
            <a:off x="6263640" y="2606040"/>
            <a:ext cx="141732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收尾质量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/>
          <p:nvPr/>
        </p:nvSpPr>
        <p:spPr>
          <a:xfrm>
            <a:off x="6281927" y="2990088"/>
            <a:ext cx="5038344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入口数与结果目录数均为 90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未检索到 boundary-unknown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未检索到 empty points-to cast source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interface / mixin 通过 wrapper/container 后仍可诊断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0" name="Rect 610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0" name="Picture 660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10. 典型修复案例：as_ref 引用 Wrapper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最后一轮 Lite DSL 扩充暴露并修复的代表性断流问题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777240" y="1573530"/>
            <a:ext cx="10588625" cy="3904615"/>
            <a:chOff x="1224" y="1800"/>
            <a:chExt cx="16675" cy="6149"/>
          </a:xfrm>
        </p:grpSpPr>
        <p:sp>
          <p:nvSpPr>
            <p:cNvPr id="703" name="TextBox 703"/>
            <p:cNvSpPr/>
            <p:nvPr>
              <p:custDataLst>
                <p:tags r:id="rId2"/>
              </p:custDataLst>
            </p:nvPr>
          </p:nvSpPr>
          <p:spPr>
            <a:xfrm>
              <a:off x="1224" y="1800"/>
              <a:ext cx="2232" cy="490"/>
            </a:xfrm>
            <a:prstGeom prst="rect">
              <a:avLst/>
            </a:prstGeom>
            <a:solidFill>
              <a:srgbClr val="A61C1C"/>
            </a:solidFill>
            <a:ln w="12700">
              <a:solidFill>
                <a:srgbClr val="A61C1C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问题形态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>
              <p:custDataLst>
                <p:tags r:id="rId3"/>
              </p:custDataLst>
            </p:nvPr>
          </p:nvSpPr>
          <p:spPr>
            <a:xfrm>
              <a:off x="1253" y="2405"/>
              <a:ext cx="5126" cy="55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Option&lt;CRc&lt;T&gt;&gt;::as_ref()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Result&lt;CRc&lt;T&gt;, E&gt;::as_ref()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返回 Option&lt;&amp;CRc&lt;T&gt;&gt; / Result&lt;&amp;CRc&lt;T&gt;, &amp;E&gt;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旧模型未连接 destination 引用 payload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4" name="TextBox 704"/>
            <p:cNvSpPr/>
            <p:nvPr>
              <p:custDataLst>
                <p:tags r:id="rId4"/>
              </p:custDataLst>
            </p:nvPr>
          </p:nvSpPr>
          <p:spPr>
            <a:xfrm>
              <a:off x="6984" y="1800"/>
              <a:ext cx="2232" cy="490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修复策略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>
              <p:custDataLst>
                <p:tags r:id="rId5"/>
              </p:custDataLst>
            </p:nvPr>
          </p:nvSpPr>
          <p:spPr>
            <a:xfrm>
              <a:off x="7013" y="2405"/>
              <a:ext cx="5126" cy="55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把 receiver payload 接到 destination payload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保留 receiver holder 已有对象流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支持 as_ref().unwrap().clone() 后进入 cast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避免 cast 源 points-to 为空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5" name="TextBox 705"/>
            <p:cNvSpPr/>
            <p:nvPr>
              <p:custDataLst>
                <p:tags r:id="rId6"/>
              </p:custDataLst>
            </p:nvPr>
          </p:nvSpPr>
          <p:spPr>
            <a:xfrm>
              <a:off x="12744" y="1800"/>
              <a:ext cx="2232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验证结果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>
              <p:custDataLst>
                <p:tags r:id="rId7"/>
              </p:custDataLst>
            </p:nvPr>
          </p:nvSpPr>
          <p:spPr>
            <a:xfrm>
              <a:off x="12773" y="2405"/>
              <a:ext cx="5126" cy="55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Option / Result safe 场景可证明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interface wrapper may-unsafe 可解释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mixin wrapper must-unsafe 可解释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最终矩阵无 unknown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56" name="Picture 656"/>
          <p:cNvPicPr/>
          <p:nvPr/>
        </p:nvPicPr>
        <p:blipFill>
          <a:blip r:embed="rId8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479425" y="642797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11. 当前成果与工程产物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已形成可审计、可回归的静态分析与诊断工具链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1520" y="1573530"/>
            <a:ext cx="10634345" cy="3996055"/>
            <a:chOff x="1152" y="1800"/>
            <a:chExt cx="16747" cy="6293"/>
          </a:xfrm>
        </p:grpSpPr>
        <p:sp>
          <p:nvSpPr>
            <p:cNvPr id="703" name="TextBox 703"/>
            <p:cNvSpPr/>
            <p:nvPr/>
          </p:nvSpPr>
          <p:spPr>
            <a:xfrm>
              <a:off x="1152" y="1800"/>
              <a:ext cx="2232" cy="490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分析能力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1181" y="2405"/>
              <a:ext cx="5198" cy="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类级对象流恢复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字段流、函数参数/返回值传播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wrapper/container 摘要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动态类型集合推断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class/interface/mixin 类型关系解析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4" name="TextBox 704"/>
            <p:cNvSpPr/>
            <p:nvPr/>
          </p:nvSpPr>
          <p:spPr>
            <a:xfrm>
              <a:off x="6912" y="1800"/>
              <a:ext cx="2232" cy="490"/>
            </a:xfrm>
            <a:prstGeom prst="rect">
              <a:avLst/>
            </a:prstGeom>
            <a:solidFill>
              <a:srgbClr val="548235"/>
            </a:solidFill>
            <a:ln w="12700">
              <a:solidFill>
                <a:srgbClr val="548235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输出产物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6941" y="2405"/>
              <a:ext cx="5198" cy="5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class_pag.txt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class_pts.txt / class_cg.txt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type-info.txt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inheritance_graph.txt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cast_safety.log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per-entry analysis_results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5" name="TextBox 705"/>
            <p:cNvSpPr/>
            <p:nvPr/>
          </p:nvSpPr>
          <p:spPr>
            <a:xfrm>
              <a:off x="12672" y="1800"/>
              <a:ext cx="2232" cy="490"/>
            </a:xfrm>
            <a:prstGeom prst="rect">
              <a:avLst/>
            </a:prstGeom>
            <a:solidFill>
              <a:srgbClr val="604878"/>
            </a:solidFill>
            <a:ln w="12700">
              <a:solidFill>
                <a:srgbClr val="604878"/>
              </a:solidFill>
            </a:ln>
          </p:spPr>
          <p:txBody>
            <a:bodyPr wrap="none" lIns="91440" tIns="60960" rIns="91440" bIns="60960" anchor="ctr"/>
            <a:lstStyle/>
            <a:p>
              <a:pPr algn="ctr"/>
              <a:r>
                <a:rPr lang="zh-CN" sz="13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汇报结论</a:t>
              </a:r>
              <a:endPara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2701" y="2405"/>
              <a:ext cx="5198" cy="5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0" rIns="91440" bIns="0" anchor="t"/>
            <a:lstStyle/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旧 DSL 四套件全入口可分析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Lite DSL 原始套件兼容性通过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30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90 个 cast risk matrix 场景完成分类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>
                <a:spcAft>
                  <a:spcPts val="0"/>
                </a:spcAft>
                <a:buChar char="•"/>
              </a:pPr>
              <a:r>
                <a:rPr lang="zh-CN" sz="1400">
                  <a:solidFill>
                    <a:srgbClr val="22222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最终 unknown 和空源问题均清零</a:t>
              </a:r>
              <a:endPara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56" name="Picture 656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l"/>
            <a:r>
              <a:rPr lang="zh-CN" sz="3200" b="1">
                <a:solidFill>
                  <a:srgbClr val="11111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12. 精度审计与不精确来源</a:t>
            </a:r>
            <a:endParaRPr lang="zh-CN" sz="3200" b="1">
              <a:solidFill>
                <a:srgbClr val="111111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l"/>
            <a:r>
              <a:rPr lang="zh-CN" sz="16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结论关注当前工具诊断与真实 cast 语义之间的出入</a:t>
            </a:r>
            <a:endParaRPr lang="zh-CN" sz="16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/>
          <p:nvPr/>
        </p:nvSpPr>
        <p:spPr>
          <a:xfrm>
            <a:off x="6858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88/90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exact 三分类正确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7432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97.8%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总体准确率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48006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A61C1C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2</a:t>
            </a:r>
            <a:endParaRPr lang="zh-CN" sz="3500" b="1">
              <a:solidFill>
                <a:srgbClr val="A61C1C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unsafe 假阳性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8580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0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must-unsafe 错误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xtBox 7"/>
          <p:cNvSpPr/>
          <p:nvPr/>
        </p:nvSpPr>
        <p:spPr>
          <a:xfrm>
            <a:off x="89154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ctr"/>
            <a:r>
              <a:rPr lang="zh-CN" sz="3500" b="1">
                <a:solidFill>
                  <a:srgbClr val="548235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0</a:t>
            </a:r>
            <a:endParaRPr lang="zh-CN" sz="3500" b="1">
              <a:solidFill>
                <a:srgbClr val="548235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algn="ctr"/>
            <a:r>
              <a:rPr lang="zh-CN" sz="14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unknown</a:t>
            </a:r>
            <a:endParaRPr lang="zh-CN" sz="14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685800" y="2514600"/>
            <a:ext cx="1618488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真实语义口径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704088" y="2898648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90 个 cast matrix 场景按源码意图审计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 must-safe: 45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 may-unsafe: 38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 must-unsafe: 7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工具输出：43 safe / 40 may / 7 must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9" name="TextBox 709"/>
          <p:cNvSpPr/>
          <p:nvPr/>
        </p:nvSpPr>
        <p:spPr>
          <a:xfrm>
            <a:off x="4389120" y="2514600"/>
            <a:ext cx="1417320" cy="310896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假阳性来源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/>
          <p:nvPr/>
        </p:nvSpPr>
        <p:spPr>
          <a:xfrm>
            <a:off x="4407407" y="2898648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false positive = 真实安全但被报 may-unsafe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two_holder 精度：两个 holder 的字段内容被合并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field overwrite：流不敏感保留旧写入 Cat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本质来自上下文/对象/流不敏感的保守合流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8092440" y="2514600"/>
            <a:ext cx="141732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none" lIns="91440" tIns="60960" rIns="91440" bIns="6096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诊断解释</a:t>
            </a:r>
            <a:endParaRPr lang="zh-CN" sz="13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8110727" y="2898648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 输出可视为 must-safe，当前未发现错误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must-unsafe 输出与真实必失败场景一致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may-unsafe 是保守告警，包含真实风险和假阳性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spcAft>
                <a:spcPts val="0"/>
              </a:spcAft>
              <a:buChar char="•"/>
            </a:pPr>
            <a:r>
              <a:rPr lang="zh-CN" sz="1400">
                <a:solidFill>
                  <a:srgbClr val="22222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因此优化时可优先消费 safe 与 must-unsafe</a:t>
            </a:r>
            <a:endParaRPr lang="zh-CN" sz="1400">
              <a:solidFill>
                <a:srgbClr val="22222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  <p:txBody>
          <a:bodyPr/>
          <a:lstStyle/>
          <a:p/>
        </p:txBody>
      </p:sp>
      <p:pic>
        <p:nvPicPr>
          <p:cNvPr id="661" name="Picture 661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0960" rIns="91440" bIns="60960" anchor="ctr"/>
          <a:lstStyle/>
          <a:p>
            <a:pPr algn="r"/>
            <a:r>
              <a:rPr lang="zh-CN" sz="90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RCPTA 项目汇报 | Rust OO-style DSL Static Analysis</a:t>
            </a:r>
            <a:endParaRPr lang="zh-CN" sz="900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2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3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4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5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6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ags/tag7.xml><?xml version="1.0" encoding="utf-8"?>
<p:tagLst xmlns:p="http://schemas.openxmlformats.org/presentationml/2006/main">
  <p:tag name="KSO_WM_DIAGRAM_VIRTUALLY_FRAME" val="{&quot;height&quot;:341.35,&quot;left&quot;:61.2,&quot;top&quot;:90,&quot;width&quot;:833.75992125984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5323</Words>
  <Application>WPS 演示</Application>
  <PresentationFormat>宽屏</PresentationFormat>
  <Paragraphs>400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 Black</vt:lpstr>
      <vt:lpstr>Arial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RCPTA 项目汇报</dc:title>
  <dc:creator>Codex</dc:creator>
  <cp:lastModifiedBy>07</cp:lastModifiedBy>
  <cp:revision>5</cp:revision>
  <dcterms:created xsi:type="dcterms:W3CDTF">2026-07-01T11:17:00Z</dcterms:created>
  <dcterms:modified xsi:type="dcterms:W3CDTF">2026-07-01T12:37:25Z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040F40D6A6E340B0BFE1F9B3386B68A7_12</vt:lpwstr>
  </property>
  <property fmtid="{D5CDD505-2E9C-101B-9397-08002B2CF9AE}" pid="3" name="KSOProductBuildVer">
    <vt:lpwstr>2052-12.1.0.26895</vt:lpwstr>
  </property>
</Properties>
</file>